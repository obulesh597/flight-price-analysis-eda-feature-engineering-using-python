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B8B8"/>
    <a:srgbClr val="DFE7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snapToGrid="0">
      <p:cViewPr>
        <p:scale>
          <a:sx n="50" d="100"/>
          <a:sy n="50" d="100"/>
        </p:scale>
        <p:origin x="2184" y="93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8C818D-B148-4426-8CAE-4EE2AB01AF8F}" type="doc">
      <dgm:prSet loTypeId="urn:microsoft.com/office/officeart/2005/8/layout/cycle5" loCatId="cycle" qsTypeId="urn:microsoft.com/office/officeart/2005/8/quickstyle/3d9" qsCatId="3D" csTypeId="urn:microsoft.com/office/officeart/2005/8/colors/colorful1" csCatId="colorful" phldr="1"/>
      <dgm:spPr/>
      <dgm:t>
        <a:bodyPr/>
        <a:lstStyle/>
        <a:p>
          <a:endParaRPr lang="en-IN"/>
        </a:p>
      </dgm:t>
    </dgm:pt>
    <dgm:pt modelId="{E5C21F28-6DCA-460E-84AA-B00A48DACFC1}">
      <dgm:prSet phldrT="[Text]" phldr="0"/>
      <dgm:spPr/>
      <dgm:t>
        <a:bodyPr/>
        <a:lstStyle/>
        <a:p>
          <a:r>
            <a:rPr lang="en-US" dirty="0"/>
            <a:t>Raw Data</a:t>
          </a:r>
          <a:endParaRPr lang="en-IN" dirty="0"/>
        </a:p>
      </dgm:t>
    </dgm:pt>
    <dgm:pt modelId="{BCC29232-4896-41BF-A2C9-B7FC1FE7F50D}" type="parTrans" cxnId="{61A4E17D-D107-4F84-8705-44DF84D39C7C}">
      <dgm:prSet/>
      <dgm:spPr/>
      <dgm:t>
        <a:bodyPr/>
        <a:lstStyle/>
        <a:p>
          <a:endParaRPr lang="en-IN"/>
        </a:p>
      </dgm:t>
    </dgm:pt>
    <dgm:pt modelId="{E98DC933-5F16-4403-AD76-6F3CF4C49180}" type="sibTrans" cxnId="{61A4E17D-D107-4F84-8705-44DF84D39C7C}">
      <dgm:prSet/>
      <dgm:spPr/>
      <dgm:t>
        <a:bodyPr/>
        <a:lstStyle/>
        <a:p>
          <a:endParaRPr lang="en-IN"/>
        </a:p>
      </dgm:t>
    </dgm:pt>
    <dgm:pt modelId="{88AEA0B0-4066-4E0D-B7CA-8426060317D8}">
      <dgm:prSet phldrT="[Text]" phldr="0"/>
      <dgm:spPr/>
      <dgm:t>
        <a:bodyPr/>
        <a:lstStyle/>
        <a:p>
          <a:r>
            <a:rPr lang="en-US" dirty="0"/>
            <a:t>Cleaning</a:t>
          </a:r>
        </a:p>
      </dgm:t>
    </dgm:pt>
    <dgm:pt modelId="{1C8616E3-3EB6-46E5-B09D-3A5D718F6D8D}" type="parTrans" cxnId="{7AD59B5B-CD88-4BF1-A59D-4F40B0166646}">
      <dgm:prSet/>
      <dgm:spPr/>
      <dgm:t>
        <a:bodyPr/>
        <a:lstStyle/>
        <a:p>
          <a:endParaRPr lang="en-IN"/>
        </a:p>
      </dgm:t>
    </dgm:pt>
    <dgm:pt modelId="{98D88836-B6FE-4A77-A07C-AB5BFB9532EE}" type="sibTrans" cxnId="{7AD59B5B-CD88-4BF1-A59D-4F40B0166646}">
      <dgm:prSet/>
      <dgm:spPr/>
      <dgm:t>
        <a:bodyPr/>
        <a:lstStyle/>
        <a:p>
          <a:endParaRPr lang="en-IN"/>
        </a:p>
      </dgm:t>
    </dgm:pt>
    <dgm:pt modelId="{511FD82A-9494-445A-A9AC-EE67F4492CB0}">
      <dgm:prSet phldrT="[Text]" phldr="0"/>
      <dgm:spPr/>
      <dgm:t>
        <a:bodyPr/>
        <a:lstStyle/>
        <a:p>
          <a:r>
            <a:rPr lang="en-US" dirty="0"/>
            <a:t>EDA</a:t>
          </a:r>
          <a:endParaRPr lang="en-IN" dirty="0"/>
        </a:p>
      </dgm:t>
    </dgm:pt>
    <dgm:pt modelId="{06FC95BF-0B0A-4ABF-9987-43EAE4EA1E72}" type="parTrans" cxnId="{446FA096-1262-4383-976C-2572CBBFE21F}">
      <dgm:prSet/>
      <dgm:spPr/>
      <dgm:t>
        <a:bodyPr/>
        <a:lstStyle/>
        <a:p>
          <a:endParaRPr lang="en-IN"/>
        </a:p>
      </dgm:t>
    </dgm:pt>
    <dgm:pt modelId="{19229332-A4FB-47BD-B908-5E4F4BE0D033}" type="sibTrans" cxnId="{446FA096-1262-4383-976C-2572CBBFE21F}">
      <dgm:prSet/>
      <dgm:spPr/>
      <dgm:t>
        <a:bodyPr/>
        <a:lstStyle/>
        <a:p>
          <a:endParaRPr lang="en-IN"/>
        </a:p>
      </dgm:t>
    </dgm:pt>
    <dgm:pt modelId="{2E6460F5-25C4-4597-A927-28055C5E7F2F}">
      <dgm:prSet phldrT="[Text]" phldr="0"/>
      <dgm:spPr/>
      <dgm:t>
        <a:bodyPr/>
        <a:lstStyle/>
        <a:p>
          <a:r>
            <a:rPr lang="en-US" dirty="0"/>
            <a:t>Feature Engineering</a:t>
          </a:r>
          <a:endParaRPr lang="en-IN" dirty="0"/>
        </a:p>
      </dgm:t>
    </dgm:pt>
    <dgm:pt modelId="{15229BA3-0DA5-4551-9C08-97E7A37B31FF}" type="parTrans" cxnId="{2076653D-5C69-40EC-A305-9B008BB12DBB}">
      <dgm:prSet/>
      <dgm:spPr/>
      <dgm:t>
        <a:bodyPr/>
        <a:lstStyle/>
        <a:p>
          <a:endParaRPr lang="en-IN"/>
        </a:p>
      </dgm:t>
    </dgm:pt>
    <dgm:pt modelId="{A304A7C3-E1BF-46E5-B8FE-96B671FF5D1A}" type="sibTrans" cxnId="{2076653D-5C69-40EC-A305-9B008BB12DBB}">
      <dgm:prSet/>
      <dgm:spPr/>
      <dgm:t>
        <a:bodyPr/>
        <a:lstStyle/>
        <a:p>
          <a:endParaRPr lang="en-IN"/>
        </a:p>
      </dgm:t>
    </dgm:pt>
    <dgm:pt modelId="{D3156180-AACB-4536-9DF0-0C7DC6261183}">
      <dgm:prSet phldrT="[Text]" phldr="0"/>
      <dgm:spPr/>
      <dgm:t>
        <a:bodyPr/>
        <a:lstStyle/>
        <a:p>
          <a:r>
            <a:rPr lang="en-US" dirty="0"/>
            <a:t>Insights</a:t>
          </a:r>
          <a:endParaRPr lang="en-IN" dirty="0"/>
        </a:p>
      </dgm:t>
    </dgm:pt>
    <dgm:pt modelId="{F1B578D9-69C8-4890-A89A-198F2012A0C4}" type="parTrans" cxnId="{BD1294DD-3B6E-452D-BD11-43FE0880B894}">
      <dgm:prSet/>
      <dgm:spPr/>
      <dgm:t>
        <a:bodyPr/>
        <a:lstStyle/>
        <a:p>
          <a:endParaRPr lang="en-IN"/>
        </a:p>
      </dgm:t>
    </dgm:pt>
    <dgm:pt modelId="{10AD7C83-4B89-48E8-A98D-33508C08FB5A}" type="sibTrans" cxnId="{BD1294DD-3B6E-452D-BD11-43FE0880B894}">
      <dgm:prSet/>
      <dgm:spPr/>
      <dgm:t>
        <a:bodyPr/>
        <a:lstStyle/>
        <a:p>
          <a:endParaRPr lang="en-IN"/>
        </a:p>
      </dgm:t>
    </dgm:pt>
    <dgm:pt modelId="{510B17AD-9D3C-455C-99E0-0CE68C306627}" type="pres">
      <dgm:prSet presAssocID="{FB8C818D-B148-4426-8CAE-4EE2AB01AF8F}" presName="cycle" presStyleCnt="0">
        <dgm:presLayoutVars>
          <dgm:dir/>
          <dgm:resizeHandles val="exact"/>
        </dgm:presLayoutVars>
      </dgm:prSet>
      <dgm:spPr/>
    </dgm:pt>
    <dgm:pt modelId="{B2BA80D7-2DF5-4321-8ADD-CB4D9BC62E40}" type="pres">
      <dgm:prSet presAssocID="{E5C21F28-6DCA-460E-84AA-B00A48DACFC1}" presName="node" presStyleLbl="node1" presStyleIdx="0" presStyleCnt="5">
        <dgm:presLayoutVars>
          <dgm:bulletEnabled val="1"/>
        </dgm:presLayoutVars>
      </dgm:prSet>
      <dgm:spPr/>
    </dgm:pt>
    <dgm:pt modelId="{9BC67BB3-B8B1-4A55-A551-BEC4A3085F0A}" type="pres">
      <dgm:prSet presAssocID="{E5C21F28-6DCA-460E-84AA-B00A48DACFC1}" presName="spNode" presStyleCnt="0"/>
      <dgm:spPr/>
    </dgm:pt>
    <dgm:pt modelId="{813FEFA7-0784-4E1F-9044-E30EA484F33C}" type="pres">
      <dgm:prSet presAssocID="{E98DC933-5F16-4403-AD76-6F3CF4C49180}" presName="sibTrans" presStyleLbl="sibTrans1D1" presStyleIdx="0" presStyleCnt="5"/>
      <dgm:spPr/>
    </dgm:pt>
    <dgm:pt modelId="{AEE57D02-8F21-4CF2-B84F-615269039081}" type="pres">
      <dgm:prSet presAssocID="{88AEA0B0-4066-4E0D-B7CA-8426060317D8}" presName="node" presStyleLbl="node1" presStyleIdx="1" presStyleCnt="5">
        <dgm:presLayoutVars>
          <dgm:bulletEnabled val="1"/>
        </dgm:presLayoutVars>
      </dgm:prSet>
      <dgm:spPr/>
    </dgm:pt>
    <dgm:pt modelId="{6D6F10D8-7A8E-40C6-A2BB-86023C94F48E}" type="pres">
      <dgm:prSet presAssocID="{88AEA0B0-4066-4E0D-B7CA-8426060317D8}" presName="spNode" presStyleCnt="0"/>
      <dgm:spPr/>
    </dgm:pt>
    <dgm:pt modelId="{3A640DA7-5B33-4B7A-BF29-18CEEF4AC283}" type="pres">
      <dgm:prSet presAssocID="{98D88836-B6FE-4A77-A07C-AB5BFB9532EE}" presName="sibTrans" presStyleLbl="sibTrans1D1" presStyleIdx="1" presStyleCnt="5"/>
      <dgm:spPr/>
    </dgm:pt>
    <dgm:pt modelId="{45DACFD9-C520-479B-ABA1-85713A04B300}" type="pres">
      <dgm:prSet presAssocID="{511FD82A-9494-445A-A9AC-EE67F4492CB0}" presName="node" presStyleLbl="node1" presStyleIdx="2" presStyleCnt="5">
        <dgm:presLayoutVars>
          <dgm:bulletEnabled val="1"/>
        </dgm:presLayoutVars>
      </dgm:prSet>
      <dgm:spPr/>
    </dgm:pt>
    <dgm:pt modelId="{9C56841E-7C13-4D02-8015-75075B7BD10B}" type="pres">
      <dgm:prSet presAssocID="{511FD82A-9494-445A-A9AC-EE67F4492CB0}" presName="spNode" presStyleCnt="0"/>
      <dgm:spPr/>
    </dgm:pt>
    <dgm:pt modelId="{D33B8822-3E50-4619-BF02-4F3574157F03}" type="pres">
      <dgm:prSet presAssocID="{19229332-A4FB-47BD-B908-5E4F4BE0D033}" presName="sibTrans" presStyleLbl="sibTrans1D1" presStyleIdx="2" presStyleCnt="5"/>
      <dgm:spPr/>
    </dgm:pt>
    <dgm:pt modelId="{28B7D5DC-912D-4BC8-9C2B-0CFA9574A7F2}" type="pres">
      <dgm:prSet presAssocID="{2E6460F5-25C4-4597-A927-28055C5E7F2F}" presName="node" presStyleLbl="node1" presStyleIdx="3" presStyleCnt="5">
        <dgm:presLayoutVars>
          <dgm:bulletEnabled val="1"/>
        </dgm:presLayoutVars>
      </dgm:prSet>
      <dgm:spPr/>
    </dgm:pt>
    <dgm:pt modelId="{C8D49CFB-C9FB-456C-B831-8B0F58783EEA}" type="pres">
      <dgm:prSet presAssocID="{2E6460F5-25C4-4597-A927-28055C5E7F2F}" presName="spNode" presStyleCnt="0"/>
      <dgm:spPr/>
    </dgm:pt>
    <dgm:pt modelId="{6B96F486-4648-48E3-B535-7019BFC4DD14}" type="pres">
      <dgm:prSet presAssocID="{A304A7C3-E1BF-46E5-B8FE-96B671FF5D1A}" presName="sibTrans" presStyleLbl="sibTrans1D1" presStyleIdx="3" presStyleCnt="5"/>
      <dgm:spPr/>
    </dgm:pt>
    <dgm:pt modelId="{39B15C70-130E-479E-9AC7-14D8ED4008EA}" type="pres">
      <dgm:prSet presAssocID="{D3156180-AACB-4536-9DF0-0C7DC6261183}" presName="node" presStyleLbl="node1" presStyleIdx="4" presStyleCnt="5">
        <dgm:presLayoutVars>
          <dgm:bulletEnabled val="1"/>
        </dgm:presLayoutVars>
      </dgm:prSet>
      <dgm:spPr/>
    </dgm:pt>
    <dgm:pt modelId="{1B8F568C-964E-4151-AC71-FEA2B6C1A154}" type="pres">
      <dgm:prSet presAssocID="{D3156180-AACB-4536-9DF0-0C7DC6261183}" presName="spNode" presStyleCnt="0"/>
      <dgm:spPr/>
    </dgm:pt>
    <dgm:pt modelId="{2BB7EA99-1C78-468E-85D6-80B3F05F0C7F}" type="pres">
      <dgm:prSet presAssocID="{10AD7C83-4B89-48E8-A98D-33508C08FB5A}" presName="sibTrans" presStyleLbl="sibTrans1D1" presStyleIdx="4" presStyleCnt="5"/>
      <dgm:spPr/>
    </dgm:pt>
  </dgm:ptLst>
  <dgm:cxnLst>
    <dgm:cxn modelId="{5C960607-4E2F-4558-9D17-9CFC6DCD525D}" type="presOf" srcId="{D3156180-AACB-4536-9DF0-0C7DC6261183}" destId="{39B15C70-130E-479E-9AC7-14D8ED4008EA}" srcOrd="0" destOrd="0" presId="urn:microsoft.com/office/officeart/2005/8/layout/cycle5"/>
    <dgm:cxn modelId="{8E0AAB3A-AE1A-4747-8DFE-AF35AB5BE180}" type="presOf" srcId="{FB8C818D-B148-4426-8CAE-4EE2AB01AF8F}" destId="{510B17AD-9D3C-455C-99E0-0CE68C306627}" srcOrd="0" destOrd="0" presId="urn:microsoft.com/office/officeart/2005/8/layout/cycle5"/>
    <dgm:cxn modelId="{2076653D-5C69-40EC-A305-9B008BB12DBB}" srcId="{FB8C818D-B148-4426-8CAE-4EE2AB01AF8F}" destId="{2E6460F5-25C4-4597-A927-28055C5E7F2F}" srcOrd="3" destOrd="0" parTransId="{15229BA3-0DA5-4551-9C08-97E7A37B31FF}" sibTransId="{A304A7C3-E1BF-46E5-B8FE-96B671FF5D1A}"/>
    <dgm:cxn modelId="{7AD59B5B-CD88-4BF1-A59D-4F40B0166646}" srcId="{FB8C818D-B148-4426-8CAE-4EE2AB01AF8F}" destId="{88AEA0B0-4066-4E0D-B7CA-8426060317D8}" srcOrd="1" destOrd="0" parTransId="{1C8616E3-3EB6-46E5-B09D-3A5D718F6D8D}" sibTransId="{98D88836-B6FE-4A77-A07C-AB5BFB9532EE}"/>
    <dgm:cxn modelId="{25EE5C55-C87A-496B-A20C-3E7367F8400C}" type="presOf" srcId="{511FD82A-9494-445A-A9AC-EE67F4492CB0}" destId="{45DACFD9-C520-479B-ABA1-85713A04B300}" srcOrd="0" destOrd="0" presId="urn:microsoft.com/office/officeart/2005/8/layout/cycle5"/>
    <dgm:cxn modelId="{61A4E17D-D107-4F84-8705-44DF84D39C7C}" srcId="{FB8C818D-B148-4426-8CAE-4EE2AB01AF8F}" destId="{E5C21F28-6DCA-460E-84AA-B00A48DACFC1}" srcOrd="0" destOrd="0" parTransId="{BCC29232-4896-41BF-A2C9-B7FC1FE7F50D}" sibTransId="{E98DC933-5F16-4403-AD76-6F3CF4C49180}"/>
    <dgm:cxn modelId="{F3DBFD7F-DBBB-4122-BE54-E9D26ADEDDDE}" type="presOf" srcId="{2E6460F5-25C4-4597-A927-28055C5E7F2F}" destId="{28B7D5DC-912D-4BC8-9C2B-0CFA9574A7F2}" srcOrd="0" destOrd="0" presId="urn:microsoft.com/office/officeart/2005/8/layout/cycle5"/>
    <dgm:cxn modelId="{446FA096-1262-4383-976C-2572CBBFE21F}" srcId="{FB8C818D-B148-4426-8CAE-4EE2AB01AF8F}" destId="{511FD82A-9494-445A-A9AC-EE67F4492CB0}" srcOrd="2" destOrd="0" parTransId="{06FC95BF-0B0A-4ABF-9987-43EAE4EA1E72}" sibTransId="{19229332-A4FB-47BD-B908-5E4F4BE0D033}"/>
    <dgm:cxn modelId="{E7DE8C9F-BF39-4A19-95E2-320C261D728F}" type="presOf" srcId="{88AEA0B0-4066-4E0D-B7CA-8426060317D8}" destId="{AEE57D02-8F21-4CF2-B84F-615269039081}" srcOrd="0" destOrd="0" presId="urn:microsoft.com/office/officeart/2005/8/layout/cycle5"/>
    <dgm:cxn modelId="{BC9A53A9-A737-440C-9A89-2313534E9DFC}" type="presOf" srcId="{98D88836-B6FE-4A77-A07C-AB5BFB9532EE}" destId="{3A640DA7-5B33-4B7A-BF29-18CEEF4AC283}" srcOrd="0" destOrd="0" presId="urn:microsoft.com/office/officeart/2005/8/layout/cycle5"/>
    <dgm:cxn modelId="{0FAC3EC7-0829-4218-9C06-6172338EC859}" type="presOf" srcId="{E98DC933-5F16-4403-AD76-6F3CF4C49180}" destId="{813FEFA7-0784-4E1F-9044-E30EA484F33C}" srcOrd="0" destOrd="0" presId="urn:microsoft.com/office/officeart/2005/8/layout/cycle5"/>
    <dgm:cxn modelId="{9423F4C9-E47C-41D0-92F5-CAD18C7CCF8A}" type="presOf" srcId="{E5C21F28-6DCA-460E-84AA-B00A48DACFC1}" destId="{B2BA80D7-2DF5-4321-8ADD-CB4D9BC62E40}" srcOrd="0" destOrd="0" presId="urn:microsoft.com/office/officeart/2005/8/layout/cycle5"/>
    <dgm:cxn modelId="{BD1294DD-3B6E-452D-BD11-43FE0880B894}" srcId="{FB8C818D-B148-4426-8CAE-4EE2AB01AF8F}" destId="{D3156180-AACB-4536-9DF0-0C7DC6261183}" srcOrd="4" destOrd="0" parTransId="{F1B578D9-69C8-4890-A89A-198F2012A0C4}" sibTransId="{10AD7C83-4B89-48E8-A98D-33508C08FB5A}"/>
    <dgm:cxn modelId="{81AEC7DD-8821-462F-8BDB-185110B947B4}" type="presOf" srcId="{10AD7C83-4B89-48E8-A98D-33508C08FB5A}" destId="{2BB7EA99-1C78-468E-85D6-80B3F05F0C7F}" srcOrd="0" destOrd="0" presId="urn:microsoft.com/office/officeart/2005/8/layout/cycle5"/>
    <dgm:cxn modelId="{621DB5DF-845C-48CD-B298-377F1C9E6435}" type="presOf" srcId="{A304A7C3-E1BF-46E5-B8FE-96B671FF5D1A}" destId="{6B96F486-4648-48E3-B535-7019BFC4DD14}" srcOrd="0" destOrd="0" presId="urn:microsoft.com/office/officeart/2005/8/layout/cycle5"/>
    <dgm:cxn modelId="{F5265DE4-EB4A-4D55-BAAA-455E0BCC480F}" type="presOf" srcId="{19229332-A4FB-47BD-B908-5E4F4BE0D033}" destId="{D33B8822-3E50-4619-BF02-4F3574157F03}" srcOrd="0" destOrd="0" presId="urn:microsoft.com/office/officeart/2005/8/layout/cycle5"/>
    <dgm:cxn modelId="{342ECF22-D2F0-4F4A-9B77-B34184B5B629}" type="presParOf" srcId="{510B17AD-9D3C-455C-99E0-0CE68C306627}" destId="{B2BA80D7-2DF5-4321-8ADD-CB4D9BC62E40}" srcOrd="0" destOrd="0" presId="urn:microsoft.com/office/officeart/2005/8/layout/cycle5"/>
    <dgm:cxn modelId="{C9C30036-525F-4013-8444-CBF6D5E18316}" type="presParOf" srcId="{510B17AD-9D3C-455C-99E0-0CE68C306627}" destId="{9BC67BB3-B8B1-4A55-A551-BEC4A3085F0A}" srcOrd="1" destOrd="0" presId="urn:microsoft.com/office/officeart/2005/8/layout/cycle5"/>
    <dgm:cxn modelId="{077B3C06-9391-4A3D-B136-0E070D86A9A9}" type="presParOf" srcId="{510B17AD-9D3C-455C-99E0-0CE68C306627}" destId="{813FEFA7-0784-4E1F-9044-E30EA484F33C}" srcOrd="2" destOrd="0" presId="urn:microsoft.com/office/officeart/2005/8/layout/cycle5"/>
    <dgm:cxn modelId="{70E96F52-76E1-4626-B635-A08920A04C06}" type="presParOf" srcId="{510B17AD-9D3C-455C-99E0-0CE68C306627}" destId="{AEE57D02-8F21-4CF2-B84F-615269039081}" srcOrd="3" destOrd="0" presId="urn:microsoft.com/office/officeart/2005/8/layout/cycle5"/>
    <dgm:cxn modelId="{74ED3B54-1E7A-410F-9183-27952AEF8986}" type="presParOf" srcId="{510B17AD-9D3C-455C-99E0-0CE68C306627}" destId="{6D6F10D8-7A8E-40C6-A2BB-86023C94F48E}" srcOrd="4" destOrd="0" presId="urn:microsoft.com/office/officeart/2005/8/layout/cycle5"/>
    <dgm:cxn modelId="{635F9CF1-903C-4CF3-B563-D484A9E9233B}" type="presParOf" srcId="{510B17AD-9D3C-455C-99E0-0CE68C306627}" destId="{3A640DA7-5B33-4B7A-BF29-18CEEF4AC283}" srcOrd="5" destOrd="0" presId="urn:microsoft.com/office/officeart/2005/8/layout/cycle5"/>
    <dgm:cxn modelId="{66941F5A-4427-426C-A3B3-981FFF939ABB}" type="presParOf" srcId="{510B17AD-9D3C-455C-99E0-0CE68C306627}" destId="{45DACFD9-C520-479B-ABA1-85713A04B300}" srcOrd="6" destOrd="0" presId="urn:microsoft.com/office/officeart/2005/8/layout/cycle5"/>
    <dgm:cxn modelId="{EA799191-1EC9-4AD9-A12F-C56EC6EB7F9B}" type="presParOf" srcId="{510B17AD-9D3C-455C-99E0-0CE68C306627}" destId="{9C56841E-7C13-4D02-8015-75075B7BD10B}" srcOrd="7" destOrd="0" presId="urn:microsoft.com/office/officeart/2005/8/layout/cycle5"/>
    <dgm:cxn modelId="{ABCCFC16-11C6-463D-8F8A-7496B932E0D5}" type="presParOf" srcId="{510B17AD-9D3C-455C-99E0-0CE68C306627}" destId="{D33B8822-3E50-4619-BF02-4F3574157F03}" srcOrd="8" destOrd="0" presId="urn:microsoft.com/office/officeart/2005/8/layout/cycle5"/>
    <dgm:cxn modelId="{F2AEAECD-B082-42F8-8491-6022060302B3}" type="presParOf" srcId="{510B17AD-9D3C-455C-99E0-0CE68C306627}" destId="{28B7D5DC-912D-4BC8-9C2B-0CFA9574A7F2}" srcOrd="9" destOrd="0" presId="urn:microsoft.com/office/officeart/2005/8/layout/cycle5"/>
    <dgm:cxn modelId="{3B358B18-B0CC-4157-AA90-B7DBF8E70755}" type="presParOf" srcId="{510B17AD-9D3C-455C-99E0-0CE68C306627}" destId="{C8D49CFB-C9FB-456C-B831-8B0F58783EEA}" srcOrd="10" destOrd="0" presId="urn:microsoft.com/office/officeart/2005/8/layout/cycle5"/>
    <dgm:cxn modelId="{B1673AA9-37FB-4077-88D7-1EE6A0B265F3}" type="presParOf" srcId="{510B17AD-9D3C-455C-99E0-0CE68C306627}" destId="{6B96F486-4648-48E3-B535-7019BFC4DD14}" srcOrd="11" destOrd="0" presId="urn:microsoft.com/office/officeart/2005/8/layout/cycle5"/>
    <dgm:cxn modelId="{60218C1D-702B-423A-80F3-8D1F4D336A07}" type="presParOf" srcId="{510B17AD-9D3C-455C-99E0-0CE68C306627}" destId="{39B15C70-130E-479E-9AC7-14D8ED4008EA}" srcOrd="12" destOrd="0" presId="urn:microsoft.com/office/officeart/2005/8/layout/cycle5"/>
    <dgm:cxn modelId="{BC7E602C-4E7E-4E7B-97DC-0BC5CE5EE1AD}" type="presParOf" srcId="{510B17AD-9D3C-455C-99E0-0CE68C306627}" destId="{1B8F568C-964E-4151-AC71-FEA2B6C1A154}" srcOrd="13" destOrd="0" presId="urn:microsoft.com/office/officeart/2005/8/layout/cycle5"/>
    <dgm:cxn modelId="{C2ECC457-F166-4586-AC1F-932F7091D88E}" type="presParOf" srcId="{510B17AD-9D3C-455C-99E0-0CE68C306627}" destId="{2BB7EA99-1C78-468E-85D6-80B3F05F0C7F}"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A80D7-2DF5-4321-8ADD-CB4D9BC62E40}">
      <dsp:nvSpPr>
        <dsp:cNvPr id="0" name=""/>
        <dsp:cNvSpPr/>
      </dsp:nvSpPr>
      <dsp:spPr>
        <a:xfrm>
          <a:off x="1807357" y="42358"/>
          <a:ext cx="1462744" cy="950784"/>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2390" tIns="72390" rIns="72390" bIns="72390" numCol="1" spcCol="1270" anchor="ctr" anchorCtr="0">
          <a:noAutofit/>
          <a:sp3d extrusionH="28000" prstMaterial="matte"/>
        </a:bodyPr>
        <a:lstStyle/>
        <a:p>
          <a:pPr marL="0" lvl="0" indent="0" algn="ctr" defTabSz="844550">
            <a:lnSpc>
              <a:spcPct val="90000"/>
            </a:lnSpc>
            <a:spcBef>
              <a:spcPct val="0"/>
            </a:spcBef>
            <a:spcAft>
              <a:spcPct val="35000"/>
            </a:spcAft>
            <a:buNone/>
          </a:pPr>
          <a:r>
            <a:rPr lang="en-US" sz="1900" kern="1200" dirty="0"/>
            <a:t>Raw Data</a:t>
          </a:r>
          <a:endParaRPr lang="en-IN" sz="1900" kern="1200" dirty="0"/>
        </a:p>
      </dsp:txBody>
      <dsp:txXfrm>
        <a:off x="1853770" y="88771"/>
        <a:ext cx="1369918" cy="857958"/>
      </dsp:txXfrm>
    </dsp:sp>
    <dsp:sp modelId="{813FEFA7-0784-4E1F-9044-E30EA484F33C}">
      <dsp:nvSpPr>
        <dsp:cNvPr id="0" name=""/>
        <dsp:cNvSpPr/>
      </dsp:nvSpPr>
      <dsp:spPr>
        <a:xfrm>
          <a:off x="640102" y="517750"/>
          <a:ext cx="3797254" cy="3797254"/>
        </a:xfrm>
        <a:custGeom>
          <a:avLst/>
          <a:gdLst/>
          <a:ahLst/>
          <a:cxnLst/>
          <a:rect l="0" t="0" r="0" b="0"/>
          <a:pathLst>
            <a:path>
              <a:moveTo>
                <a:pt x="2825729" y="241742"/>
              </a:moveTo>
              <a:arcTo wR="1898627" hR="1898627" stAng="17953739" swAng="1211057"/>
            </a:path>
          </a:pathLst>
        </a:custGeom>
        <a:noFill/>
        <a:ln w="9525" cap="flat" cmpd="sng" algn="ctr">
          <a:solidFill>
            <a:schemeClr val="accent2">
              <a:hueOff val="0"/>
              <a:satOff val="0"/>
              <a:lumOff val="0"/>
              <a:alphaOff val="0"/>
            </a:schemeClr>
          </a:solidFill>
          <a:prstDash val="solid"/>
          <a:tailEnd type="arrow"/>
        </a:ln>
        <a:effectLst/>
        <a:sp3d z="-227350" prstMaterial="matte"/>
      </dsp:spPr>
      <dsp:style>
        <a:lnRef idx="1">
          <a:scrgbClr r="0" g="0" b="0"/>
        </a:lnRef>
        <a:fillRef idx="0">
          <a:scrgbClr r="0" g="0" b="0"/>
        </a:fillRef>
        <a:effectRef idx="0">
          <a:scrgbClr r="0" g="0" b="0"/>
        </a:effectRef>
        <a:fontRef idx="minor"/>
      </dsp:style>
    </dsp:sp>
    <dsp:sp modelId="{AEE57D02-8F21-4CF2-B84F-615269039081}">
      <dsp:nvSpPr>
        <dsp:cNvPr id="0" name=""/>
        <dsp:cNvSpPr/>
      </dsp:nvSpPr>
      <dsp:spPr>
        <a:xfrm>
          <a:off x="3613059" y="1354277"/>
          <a:ext cx="1462744" cy="950784"/>
        </a:xfrm>
        <a:prstGeom prst="round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2390" tIns="72390" rIns="72390" bIns="72390" numCol="1" spcCol="1270" anchor="ctr" anchorCtr="0">
          <a:noAutofit/>
          <a:sp3d extrusionH="28000" prstMaterial="matte"/>
        </a:bodyPr>
        <a:lstStyle/>
        <a:p>
          <a:pPr marL="0" lvl="0" indent="0" algn="ctr" defTabSz="844550">
            <a:lnSpc>
              <a:spcPct val="90000"/>
            </a:lnSpc>
            <a:spcBef>
              <a:spcPct val="0"/>
            </a:spcBef>
            <a:spcAft>
              <a:spcPct val="35000"/>
            </a:spcAft>
            <a:buNone/>
          </a:pPr>
          <a:r>
            <a:rPr lang="en-US" sz="1900" kern="1200" dirty="0"/>
            <a:t>Cleaning</a:t>
          </a:r>
        </a:p>
      </dsp:txBody>
      <dsp:txXfrm>
        <a:off x="3659472" y="1400690"/>
        <a:ext cx="1369918" cy="857958"/>
      </dsp:txXfrm>
    </dsp:sp>
    <dsp:sp modelId="{3A640DA7-5B33-4B7A-BF29-18CEEF4AC283}">
      <dsp:nvSpPr>
        <dsp:cNvPr id="0" name=""/>
        <dsp:cNvSpPr/>
      </dsp:nvSpPr>
      <dsp:spPr>
        <a:xfrm>
          <a:off x="640102" y="517750"/>
          <a:ext cx="3797254" cy="3797254"/>
        </a:xfrm>
        <a:custGeom>
          <a:avLst/>
          <a:gdLst/>
          <a:ahLst/>
          <a:cxnLst/>
          <a:rect l="0" t="0" r="0" b="0"/>
          <a:pathLst>
            <a:path>
              <a:moveTo>
                <a:pt x="3792694" y="2030143"/>
              </a:moveTo>
              <a:arcTo wR="1898627" hR="1898627" stAng="21838321" swAng="1359354"/>
            </a:path>
          </a:pathLst>
        </a:custGeom>
        <a:noFill/>
        <a:ln w="9525" cap="flat" cmpd="sng" algn="ctr">
          <a:solidFill>
            <a:schemeClr val="accent3">
              <a:hueOff val="0"/>
              <a:satOff val="0"/>
              <a:lumOff val="0"/>
              <a:alphaOff val="0"/>
            </a:schemeClr>
          </a:solidFill>
          <a:prstDash val="solid"/>
          <a:tailEnd type="arrow"/>
        </a:ln>
        <a:effectLst/>
        <a:sp3d z="-227350" prstMaterial="matte"/>
      </dsp:spPr>
      <dsp:style>
        <a:lnRef idx="1">
          <a:scrgbClr r="0" g="0" b="0"/>
        </a:lnRef>
        <a:fillRef idx="0">
          <a:scrgbClr r="0" g="0" b="0"/>
        </a:fillRef>
        <a:effectRef idx="0">
          <a:scrgbClr r="0" g="0" b="0"/>
        </a:effectRef>
        <a:fontRef idx="minor"/>
      </dsp:style>
    </dsp:sp>
    <dsp:sp modelId="{45DACFD9-C520-479B-ABA1-85713A04B300}">
      <dsp:nvSpPr>
        <dsp:cNvPr id="0" name=""/>
        <dsp:cNvSpPr/>
      </dsp:nvSpPr>
      <dsp:spPr>
        <a:xfrm>
          <a:off x="2923342" y="3477007"/>
          <a:ext cx="1462744" cy="950784"/>
        </a:xfrm>
        <a:prstGeom prst="roundRect">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2390" tIns="72390" rIns="72390" bIns="72390" numCol="1" spcCol="1270" anchor="ctr" anchorCtr="0">
          <a:noAutofit/>
          <a:sp3d extrusionH="28000" prstMaterial="matte"/>
        </a:bodyPr>
        <a:lstStyle/>
        <a:p>
          <a:pPr marL="0" lvl="0" indent="0" algn="ctr" defTabSz="844550">
            <a:lnSpc>
              <a:spcPct val="90000"/>
            </a:lnSpc>
            <a:spcBef>
              <a:spcPct val="0"/>
            </a:spcBef>
            <a:spcAft>
              <a:spcPct val="35000"/>
            </a:spcAft>
            <a:buNone/>
          </a:pPr>
          <a:r>
            <a:rPr lang="en-US" sz="1900" kern="1200" dirty="0"/>
            <a:t>EDA</a:t>
          </a:r>
          <a:endParaRPr lang="en-IN" sz="1900" kern="1200" dirty="0"/>
        </a:p>
      </dsp:txBody>
      <dsp:txXfrm>
        <a:off x="2969755" y="3523420"/>
        <a:ext cx="1369918" cy="857958"/>
      </dsp:txXfrm>
    </dsp:sp>
    <dsp:sp modelId="{D33B8822-3E50-4619-BF02-4F3574157F03}">
      <dsp:nvSpPr>
        <dsp:cNvPr id="0" name=""/>
        <dsp:cNvSpPr/>
      </dsp:nvSpPr>
      <dsp:spPr>
        <a:xfrm>
          <a:off x="640102" y="517750"/>
          <a:ext cx="3797254" cy="3797254"/>
        </a:xfrm>
        <a:custGeom>
          <a:avLst/>
          <a:gdLst/>
          <a:ahLst/>
          <a:cxnLst/>
          <a:rect l="0" t="0" r="0" b="0"/>
          <a:pathLst>
            <a:path>
              <a:moveTo>
                <a:pt x="2131487" y="3782920"/>
              </a:moveTo>
              <a:arcTo wR="1898627" hR="1898627" stAng="4977308" swAng="845384"/>
            </a:path>
          </a:pathLst>
        </a:custGeom>
        <a:noFill/>
        <a:ln w="9525" cap="flat" cmpd="sng" algn="ctr">
          <a:solidFill>
            <a:schemeClr val="accent4">
              <a:hueOff val="0"/>
              <a:satOff val="0"/>
              <a:lumOff val="0"/>
              <a:alphaOff val="0"/>
            </a:schemeClr>
          </a:solidFill>
          <a:prstDash val="solid"/>
          <a:tailEnd type="arrow"/>
        </a:ln>
        <a:effectLst/>
        <a:sp3d z="-227350" prstMaterial="matte"/>
      </dsp:spPr>
      <dsp:style>
        <a:lnRef idx="1">
          <a:scrgbClr r="0" g="0" b="0"/>
        </a:lnRef>
        <a:fillRef idx="0">
          <a:scrgbClr r="0" g="0" b="0"/>
        </a:fillRef>
        <a:effectRef idx="0">
          <a:scrgbClr r="0" g="0" b="0"/>
        </a:effectRef>
        <a:fontRef idx="minor"/>
      </dsp:style>
    </dsp:sp>
    <dsp:sp modelId="{28B7D5DC-912D-4BC8-9C2B-0CFA9574A7F2}">
      <dsp:nvSpPr>
        <dsp:cNvPr id="0" name=""/>
        <dsp:cNvSpPr/>
      </dsp:nvSpPr>
      <dsp:spPr>
        <a:xfrm>
          <a:off x="691372" y="3477007"/>
          <a:ext cx="1462744" cy="950784"/>
        </a:xfrm>
        <a:prstGeom prst="roundRect">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2390" tIns="72390" rIns="72390" bIns="72390" numCol="1" spcCol="1270" anchor="ctr" anchorCtr="0">
          <a:noAutofit/>
          <a:sp3d extrusionH="28000" prstMaterial="matte"/>
        </a:bodyPr>
        <a:lstStyle/>
        <a:p>
          <a:pPr marL="0" lvl="0" indent="0" algn="ctr" defTabSz="844550">
            <a:lnSpc>
              <a:spcPct val="90000"/>
            </a:lnSpc>
            <a:spcBef>
              <a:spcPct val="0"/>
            </a:spcBef>
            <a:spcAft>
              <a:spcPct val="35000"/>
            </a:spcAft>
            <a:buNone/>
          </a:pPr>
          <a:r>
            <a:rPr lang="en-US" sz="1900" kern="1200" dirty="0"/>
            <a:t>Feature Engineering</a:t>
          </a:r>
          <a:endParaRPr lang="en-IN" sz="1900" kern="1200" dirty="0"/>
        </a:p>
      </dsp:txBody>
      <dsp:txXfrm>
        <a:off x="737785" y="3523420"/>
        <a:ext cx="1369918" cy="857958"/>
      </dsp:txXfrm>
    </dsp:sp>
    <dsp:sp modelId="{6B96F486-4648-48E3-B535-7019BFC4DD14}">
      <dsp:nvSpPr>
        <dsp:cNvPr id="0" name=""/>
        <dsp:cNvSpPr/>
      </dsp:nvSpPr>
      <dsp:spPr>
        <a:xfrm>
          <a:off x="640102" y="517750"/>
          <a:ext cx="3797254" cy="3797254"/>
        </a:xfrm>
        <a:custGeom>
          <a:avLst/>
          <a:gdLst/>
          <a:ahLst/>
          <a:cxnLst/>
          <a:rect l="0" t="0" r="0" b="0"/>
          <a:pathLst>
            <a:path>
              <a:moveTo>
                <a:pt x="201375" y="2749581"/>
              </a:moveTo>
              <a:arcTo wR="1898627" hR="1898627" stAng="9202325" swAng="1359354"/>
            </a:path>
          </a:pathLst>
        </a:custGeom>
        <a:noFill/>
        <a:ln w="9525" cap="flat" cmpd="sng" algn="ctr">
          <a:solidFill>
            <a:schemeClr val="accent5">
              <a:hueOff val="0"/>
              <a:satOff val="0"/>
              <a:lumOff val="0"/>
              <a:alphaOff val="0"/>
            </a:schemeClr>
          </a:solidFill>
          <a:prstDash val="solid"/>
          <a:tailEnd type="arrow"/>
        </a:ln>
        <a:effectLst/>
        <a:sp3d z="-227350" prstMaterial="matte"/>
      </dsp:spPr>
      <dsp:style>
        <a:lnRef idx="1">
          <a:scrgbClr r="0" g="0" b="0"/>
        </a:lnRef>
        <a:fillRef idx="0">
          <a:scrgbClr r="0" g="0" b="0"/>
        </a:fillRef>
        <a:effectRef idx="0">
          <a:scrgbClr r="0" g="0" b="0"/>
        </a:effectRef>
        <a:fontRef idx="minor"/>
      </dsp:style>
    </dsp:sp>
    <dsp:sp modelId="{39B15C70-130E-479E-9AC7-14D8ED4008EA}">
      <dsp:nvSpPr>
        <dsp:cNvPr id="0" name=""/>
        <dsp:cNvSpPr/>
      </dsp:nvSpPr>
      <dsp:spPr>
        <a:xfrm>
          <a:off x="1655" y="1354277"/>
          <a:ext cx="1462744" cy="950784"/>
        </a:xfrm>
        <a:prstGeom prst="roundRect">
          <a:avLst/>
        </a:prstGeom>
        <a:solidFill>
          <a:schemeClr val="accent6">
            <a:hueOff val="0"/>
            <a:satOff val="0"/>
            <a:lumOff val="0"/>
            <a:alphaOff val="0"/>
          </a:schemeClr>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2390" tIns="72390" rIns="72390" bIns="72390" numCol="1" spcCol="1270" anchor="ctr" anchorCtr="0">
          <a:noAutofit/>
          <a:sp3d extrusionH="28000" prstMaterial="matte"/>
        </a:bodyPr>
        <a:lstStyle/>
        <a:p>
          <a:pPr marL="0" lvl="0" indent="0" algn="ctr" defTabSz="844550">
            <a:lnSpc>
              <a:spcPct val="90000"/>
            </a:lnSpc>
            <a:spcBef>
              <a:spcPct val="0"/>
            </a:spcBef>
            <a:spcAft>
              <a:spcPct val="35000"/>
            </a:spcAft>
            <a:buNone/>
          </a:pPr>
          <a:r>
            <a:rPr lang="en-US" sz="1900" kern="1200" dirty="0"/>
            <a:t>Insights</a:t>
          </a:r>
          <a:endParaRPr lang="en-IN" sz="1900" kern="1200" dirty="0"/>
        </a:p>
      </dsp:txBody>
      <dsp:txXfrm>
        <a:off x="48068" y="1400690"/>
        <a:ext cx="1369918" cy="857958"/>
      </dsp:txXfrm>
    </dsp:sp>
    <dsp:sp modelId="{2BB7EA99-1C78-468E-85D6-80B3F05F0C7F}">
      <dsp:nvSpPr>
        <dsp:cNvPr id="0" name=""/>
        <dsp:cNvSpPr/>
      </dsp:nvSpPr>
      <dsp:spPr>
        <a:xfrm>
          <a:off x="640102" y="517750"/>
          <a:ext cx="3797254" cy="3797254"/>
        </a:xfrm>
        <a:custGeom>
          <a:avLst/>
          <a:gdLst/>
          <a:ahLst/>
          <a:cxnLst/>
          <a:rect l="0" t="0" r="0" b="0"/>
          <a:pathLst>
            <a:path>
              <a:moveTo>
                <a:pt x="456768" y="663383"/>
              </a:moveTo>
              <a:arcTo wR="1898627" hR="1898627" stAng="13235204" swAng="1211057"/>
            </a:path>
          </a:pathLst>
        </a:custGeom>
        <a:noFill/>
        <a:ln w="9525" cap="flat" cmpd="sng" algn="ctr">
          <a:solidFill>
            <a:schemeClr val="accent6">
              <a:hueOff val="0"/>
              <a:satOff val="0"/>
              <a:lumOff val="0"/>
              <a:alphaOff val="0"/>
            </a:schemeClr>
          </a:solidFill>
          <a:prstDash val="solid"/>
          <a:tailEnd type="arrow"/>
        </a:ln>
        <a:effectLst/>
        <a:sp3d z="-227350" prstMaterial="matte"/>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C23E12-9824-40B6-8F0D-6E35574B74A4}"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3B69F-3656-4B1A-936C-C4F592C0A4FF}" type="slidenum">
              <a:rPr lang="en-IN" smtClean="0"/>
              <a:t>‹#›</a:t>
            </a:fld>
            <a:endParaRPr lang="en-IN"/>
          </a:p>
        </p:txBody>
      </p:sp>
    </p:spTree>
    <p:extLst>
      <p:ext uri="{BB962C8B-B14F-4D97-AF65-F5344CB8AC3E}">
        <p14:creationId xmlns:p14="http://schemas.microsoft.com/office/powerpoint/2010/main" val="976274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53B69F-3656-4B1A-936C-C4F592C0A4FF}" type="slidenum">
              <a:rPr lang="en-IN" smtClean="0"/>
              <a:t>1</a:t>
            </a:fld>
            <a:endParaRPr lang="en-IN"/>
          </a:p>
        </p:txBody>
      </p:sp>
    </p:spTree>
    <p:extLst>
      <p:ext uri="{BB962C8B-B14F-4D97-AF65-F5344CB8AC3E}">
        <p14:creationId xmlns:p14="http://schemas.microsoft.com/office/powerpoint/2010/main" val="928087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418A-B2B9-B1AD-82F4-C30ED0411C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1F048B-69D9-6CD0-69F1-9101FE67D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F0CA02-F1DC-85CA-0D83-A0E431638814}"/>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FD33C524-C6B0-4622-41B6-8E1671886D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547357-B2A1-C593-EE2F-A5B1F22A9D79}"/>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88767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7322-A9FE-76F0-9263-BE3585349A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433F4A-23D6-70EA-8A20-5086643011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35BC69-2DD7-7193-30D3-F305A669D0A6}"/>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63360E04-3DD0-CC10-0105-68A9D8EBB1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03D6B8-857E-B23F-B71A-D58C69F80D0F}"/>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299684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80415-1130-8FB9-1D06-64D12949A0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59CFCC-7206-7AE2-F505-F229556753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C25A7-128F-4D0F-6823-D31A0B14DFBD}"/>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B8B3F2D9-BF58-9815-CE00-DB90DB757C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E2B7C-E4AF-0F9D-E7CF-4CDA933DE446}"/>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485280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1EA7-0E61-F585-8FC6-7DFB061B2B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DABE51-A8FB-7647-9E4D-98E8F95E5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BC8752-E370-3873-3BD8-0A4A3C8AAF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600052-F31B-D949-2181-67CD0262377D}"/>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6" name="Footer Placeholder 5">
            <a:extLst>
              <a:ext uri="{FF2B5EF4-FFF2-40B4-BE49-F238E27FC236}">
                <a16:creationId xmlns:a16="http://schemas.microsoft.com/office/drawing/2014/main" id="{0710BAC5-F060-E55F-92A4-A6C471B33F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A82B0-134E-401D-1B4B-DC7457B3363F}"/>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2026849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B90A0-B5A9-B922-4468-5510624D0F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C29A89-6F6D-F279-7099-C652AF3889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C198F2-C403-BF14-CE92-746DEBBB77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DFA8AD-9707-1783-EDD8-F5A4E438C8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0D0648-A0C1-0E10-B49C-D1FC9BC234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C0C5A0-45DA-1965-92DB-69F8ED97EE9F}"/>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8" name="Footer Placeholder 7">
            <a:extLst>
              <a:ext uri="{FF2B5EF4-FFF2-40B4-BE49-F238E27FC236}">
                <a16:creationId xmlns:a16="http://schemas.microsoft.com/office/drawing/2014/main" id="{660E61D5-8B32-624C-7D1F-65039B87DE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7F11B0-EC85-E010-4542-27F352AA357F}"/>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85615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7D27D-45F9-F313-714F-FEBF1D866F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44D90B-8519-5740-11D3-1CE9E433F06D}"/>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4" name="Footer Placeholder 3">
            <a:extLst>
              <a:ext uri="{FF2B5EF4-FFF2-40B4-BE49-F238E27FC236}">
                <a16:creationId xmlns:a16="http://schemas.microsoft.com/office/drawing/2014/main" id="{49C7AC2B-AED7-F71D-C257-6E88263AA0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0BD7C7-8932-4CB8-E270-F7C50C89ABA3}"/>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49795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1FCD6-EE06-18AF-7D11-67F6C46F11CB}"/>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3" name="Footer Placeholder 2">
            <a:extLst>
              <a:ext uri="{FF2B5EF4-FFF2-40B4-BE49-F238E27FC236}">
                <a16:creationId xmlns:a16="http://schemas.microsoft.com/office/drawing/2014/main" id="{2ABB8D8F-6463-3C96-E1EB-86002D39BB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D1363C-2D31-A46C-B526-B9B091AC43C1}"/>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967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43E5B-5704-BF3C-3655-7EB65DCF8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1AD8A0-1F08-BA08-C200-DBFF57451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910B9F-C169-D5C5-733E-BE847DA6E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77696-9965-777D-3B64-7997A6BA0025}"/>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6" name="Footer Placeholder 5">
            <a:extLst>
              <a:ext uri="{FF2B5EF4-FFF2-40B4-BE49-F238E27FC236}">
                <a16:creationId xmlns:a16="http://schemas.microsoft.com/office/drawing/2014/main" id="{7DCB7B2B-21A6-0BC4-5CBD-8E998D1A01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FF332D-C0BA-AB99-E5B2-134A98F8C86E}"/>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014874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4E8F7-6F57-7965-4FD5-30B1FBC1F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C7109A-2C22-E454-D068-7792475607C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E0D04A-CC30-E9D7-1E2F-F48C902EE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F8552-E7F1-F2CF-CAAF-A0E0F3BE2480}"/>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6" name="Footer Placeholder 5">
            <a:extLst>
              <a:ext uri="{FF2B5EF4-FFF2-40B4-BE49-F238E27FC236}">
                <a16:creationId xmlns:a16="http://schemas.microsoft.com/office/drawing/2014/main" id="{38745BCF-2A37-920D-656F-4EA80D492E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BCFADB-2191-3910-43E4-E654DB791D1B}"/>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244091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1DFE-FEAD-BEAF-F3E4-4A610D69A3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565F09-D85E-6567-2AD0-8AE548351B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30E3EB-336A-8207-8F9A-377F20A6F685}"/>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E399D0B3-8547-23BB-48D8-48FE7C5FA7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115B40-828E-D00F-0670-6E75A23F0F46}"/>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438082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85DDB9-FD9B-6B5F-5813-C6585076C3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0B585D-7D10-0BBF-9679-E848F32768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2C9960-7232-8A0E-1EE2-2C4B15CFB42A}"/>
              </a:ext>
            </a:extLst>
          </p:cNvPr>
          <p:cNvSpPr>
            <a:spLocks noGrp="1"/>
          </p:cNvSpPr>
          <p:nvPr>
            <p:ph type="dt" sz="half" idx="10"/>
          </p:nvPr>
        </p:nvSpPr>
        <p:spPr/>
        <p:txBody>
          <a:body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D0CC7E2F-9CEE-FDD1-0E23-A89223B735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73F48F-B6FB-4250-42FC-BDEB66D83097}"/>
              </a:ext>
            </a:extLst>
          </p:cNvPr>
          <p:cNvSpPr>
            <a:spLocks noGrp="1"/>
          </p:cNvSpPr>
          <p:nvPr>
            <p:ph type="sldNum" sz="quarter" idx="12"/>
          </p:nvPr>
        </p:nvSpPr>
        <p:spPr/>
        <p:txBody>
          <a:bodyPr/>
          <a:lstStyle/>
          <a:p>
            <a:fld id="{3C36CCAA-EBA5-41B4-99A5-A1D4E45F3640}" type="slidenum">
              <a:rPr lang="en-IN" smtClean="0"/>
              <a:t>‹#›</a:t>
            </a:fld>
            <a:endParaRPr lang="en-IN"/>
          </a:p>
        </p:txBody>
      </p:sp>
    </p:spTree>
    <p:extLst>
      <p:ext uri="{BB962C8B-B14F-4D97-AF65-F5344CB8AC3E}">
        <p14:creationId xmlns:p14="http://schemas.microsoft.com/office/powerpoint/2010/main" val="356850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323A13-2401-35D9-28C5-7509003C95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6C0B-D404-4C8E-24B5-68B356C59E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C2506-3095-C48B-F838-C29FA9F612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634CA-E942-407B-A7A7-44AE7831BC16}" type="datetimeFigureOut">
              <a:rPr lang="en-IN" smtClean="0"/>
              <a:t>02-10-2026</a:t>
            </a:fld>
            <a:endParaRPr lang="en-IN"/>
          </a:p>
        </p:txBody>
      </p:sp>
      <p:sp>
        <p:nvSpPr>
          <p:cNvPr id="5" name="Footer Placeholder 4">
            <a:extLst>
              <a:ext uri="{FF2B5EF4-FFF2-40B4-BE49-F238E27FC236}">
                <a16:creationId xmlns:a16="http://schemas.microsoft.com/office/drawing/2014/main" id="{C5D5EB9E-3113-70CB-CEEC-76DDD4FCBF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F42865-9A7C-FF09-D112-CBC55A134C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6CCAA-EBA5-41B4-99A5-A1D4E45F3640}" type="slidenum">
              <a:rPr lang="en-IN" smtClean="0"/>
              <a:t>‹#›</a:t>
            </a:fld>
            <a:endParaRPr lang="en-IN"/>
          </a:p>
        </p:txBody>
      </p:sp>
    </p:spTree>
    <p:extLst>
      <p:ext uri="{BB962C8B-B14F-4D97-AF65-F5344CB8AC3E}">
        <p14:creationId xmlns:p14="http://schemas.microsoft.com/office/powerpoint/2010/main" val="306476690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4A0E6A2B-0CEB-E95F-784E-34E10D5E3295}"/>
              </a:ext>
            </a:extLst>
          </p:cNvPr>
          <p:cNvSpPr/>
          <p:nvPr/>
        </p:nvSpPr>
        <p:spPr>
          <a:xfrm>
            <a:off x="1098599" y="4279111"/>
            <a:ext cx="308610" cy="30479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0" name="TextBox 9">
            <a:extLst>
              <a:ext uri="{FF2B5EF4-FFF2-40B4-BE49-F238E27FC236}">
                <a16:creationId xmlns:a16="http://schemas.microsoft.com/office/drawing/2014/main" id="{0338B757-4E63-781A-7E7A-DFE074F0B07B}"/>
              </a:ext>
            </a:extLst>
          </p:cNvPr>
          <p:cNvSpPr txBox="1"/>
          <p:nvPr/>
        </p:nvSpPr>
        <p:spPr>
          <a:xfrm>
            <a:off x="1028052" y="2365993"/>
            <a:ext cx="4716932" cy="707886"/>
          </a:xfrm>
          <a:prstGeom prst="rect">
            <a:avLst/>
          </a:prstGeom>
          <a:noFill/>
        </p:spPr>
        <p:txBody>
          <a:bodyPr wrap="none" rtlCol="0">
            <a:spAutoFit/>
          </a:bodyPr>
          <a:lstStyle/>
          <a:p>
            <a:r>
              <a:rPr lang="en-US" sz="4000" b="1" dirty="0">
                <a:solidFill>
                  <a:srgbClr val="00B0F0"/>
                </a:solidFill>
                <a:latin typeface="Times New Roman" panose="02020603050405020304" pitchFamily="18" charset="0"/>
                <a:cs typeface="Times New Roman" panose="02020603050405020304" pitchFamily="18" charset="0"/>
              </a:rPr>
              <a:t>Flight Price Analysis</a:t>
            </a:r>
            <a:endParaRPr lang="en-IN" sz="4000" b="1" dirty="0">
              <a:solidFill>
                <a:srgbClr val="00B0F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C58A93E0-1D5B-072E-EC8D-A1E56060D73C}"/>
              </a:ext>
            </a:extLst>
          </p:cNvPr>
          <p:cNvSpPr txBox="1"/>
          <p:nvPr/>
        </p:nvSpPr>
        <p:spPr>
          <a:xfrm>
            <a:off x="1028052" y="3160072"/>
            <a:ext cx="3914213"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EDA &amp; Feature Engineering Using Python</a:t>
            </a:r>
            <a:endParaRPr lang="en-IN" sz="16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BFD9814-E519-E050-D599-498CF237C046}"/>
              </a:ext>
            </a:extLst>
          </p:cNvPr>
          <p:cNvSpPr txBox="1"/>
          <p:nvPr/>
        </p:nvSpPr>
        <p:spPr>
          <a:xfrm>
            <a:off x="1028051" y="2027439"/>
            <a:ext cx="3042884"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DATA ANALYSIS &amp; INSIGHTS</a:t>
            </a:r>
            <a:endParaRPr lang="en-IN" sz="1600" b="1"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7A85D621-8D5E-33F3-8AFD-3A0E4476FA1A}"/>
              </a:ext>
            </a:extLst>
          </p:cNvPr>
          <p:cNvCxnSpPr>
            <a:cxnSpLocks/>
          </p:cNvCxnSpPr>
          <p:nvPr/>
        </p:nvCxnSpPr>
        <p:spPr>
          <a:xfrm>
            <a:off x="854439" y="3837482"/>
            <a:ext cx="6940446"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A00F3B2-5E4F-3D65-FFA7-EF6DC47C5440}"/>
              </a:ext>
            </a:extLst>
          </p:cNvPr>
          <p:cNvSpPr txBox="1"/>
          <p:nvPr/>
        </p:nvSpPr>
        <p:spPr>
          <a:xfrm>
            <a:off x="1477756" y="4262229"/>
            <a:ext cx="1677062"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Obulesu Polisetti</a:t>
            </a:r>
            <a:endParaRPr lang="en-IN" sz="1600" b="1" dirty="0">
              <a:latin typeface="Times New Roman" panose="02020603050405020304" pitchFamily="18" charset="0"/>
              <a:cs typeface="Times New Roman" panose="02020603050405020304" pitchFamily="18" charset="0"/>
            </a:endParaRPr>
          </a:p>
        </p:txBody>
      </p:sp>
      <p:pic>
        <p:nvPicPr>
          <p:cNvPr id="24" name="Graphic 23" descr="User with solid fill">
            <a:extLst>
              <a:ext uri="{FF2B5EF4-FFF2-40B4-BE49-F238E27FC236}">
                <a16:creationId xmlns:a16="http://schemas.microsoft.com/office/drawing/2014/main" id="{F070170E-D9BD-BECB-D36E-7B5A10C6EC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8599" y="4262229"/>
            <a:ext cx="308611" cy="308611"/>
          </a:xfrm>
          <a:prstGeom prst="rect">
            <a:avLst/>
          </a:prstGeom>
        </p:spPr>
      </p:pic>
    </p:spTree>
    <p:extLst>
      <p:ext uri="{BB962C8B-B14F-4D97-AF65-F5344CB8AC3E}">
        <p14:creationId xmlns:p14="http://schemas.microsoft.com/office/powerpoint/2010/main" val="138544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B161662-9A4E-5635-86C6-A06416515E99}"/>
              </a:ext>
            </a:extLst>
          </p:cNvPr>
          <p:cNvSpPr/>
          <p:nvPr/>
        </p:nvSpPr>
        <p:spPr>
          <a:xfrm>
            <a:off x="847344" y="164592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8" name="Rectangle: Rounded Corners 7">
            <a:extLst>
              <a:ext uri="{FF2B5EF4-FFF2-40B4-BE49-F238E27FC236}">
                <a16:creationId xmlns:a16="http://schemas.microsoft.com/office/drawing/2014/main" id="{BA9F1686-7CC5-3FB6-9B20-75CCD859D22A}"/>
              </a:ext>
            </a:extLst>
          </p:cNvPr>
          <p:cNvSpPr/>
          <p:nvPr/>
        </p:nvSpPr>
        <p:spPr>
          <a:xfrm>
            <a:off x="847344" y="2789955"/>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10" name="Rectangle: Rounded Corners 9">
            <a:extLst>
              <a:ext uri="{FF2B5EF4-FFF2-40B4-BE49-F238E27FC236}">
                <a16:creationId xmlns:a16="http://schemas.microsoft.com/office/drawing/2014/main" id="{42184E70-18F7-B831-6582-D8BE24DA821C}"/>
              </a:ext>
            </a:extLst>
          </p:cNvPr>
          <p:cNvSpPr/>
          <p:nvPr/>
        </p:nvSpPr>
        <p:spPr>
          <a:xfrm>
            <a:off x="847344" y="2217937"/>
            <a:ext cx="347472" cy="353568"/>
          </a:xfrm>
          <a:prstGeom prst="roundRect">
            <a:avLst/>
          </a:prstGeom>
          <a:solidFill>
            <a:srgbClr val="2E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2" name="Rectangle: Rounded Corners 11">
            <a:extLst>
              <a:ext uri="{FF2B5EF4-FFF2-40B4-BE49-F238E27FC236}">
                <a16:creationId xmlns:a16="http://schemas.microsoft.com/office/drawing/2014/main" id="{2909838D-F5EB-9EC4-4C43-0320B184AB14}"/>
              </a:ext>
            </a:extLst>
          </p:cNvPr>
          <p:cNvSpPr/>
          <p:nvPr/>
        </p:nvSpPr>
        <p:spPr>
          <a:xfrm>
            <a:off x="853440" y="3361973"/>
            <a:ext cx="347472" cy="353568"/>
          </a:xfrm>
          <a:prstGeom prst="roundRect">
            <a:avLst/>
          </a:prstGeom>
          <a:solidFill>
            <a:srgbClr val="2E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14" name="Rectangle: Rounded Corners 13">
            <a:extLst>
              <a:ext uri="{FF2B5EF4-FFF2-40B4-BE49-F238E27FC236}">
                <a16:creationId xmlns:a16="http://schemas.microsoft.com/office/drawing/2014/main" id="{6C499F7C-47F8-1FE9-3EA0-DD5CE7DC4F9C}"/>
              </a:ext>
            </a:extLst>
          </p:cNvPr>
          <p:cNvSpPr/>
          <p:nvPr/>
        </p:nvSpPr>
        <p:spPr>
          <a:xfrm>
            <a:off x="847344" y="393399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16" name="Rectangle: Rounded Corners 15">
            <a:extLst>
              <a:ext uri="{FF2B5EF4-FFF2-40B4-BE49-F238E27FC236}">
                <a16:creationId xmlns:a16="http://schemas.microsoft.com/office/drawing/2014/main" id="{0F986EC3-2E1C-6B8B-0406-2749C88B79B3}"/>
              </a:ext>
            </a:extLst>
          </p:cNvPr>
          <p:cNvSpPr/>
          <p:nvPr/>
        </p:nvSpPr>
        <p:spPr>
          <a:xfrm>
            <a:off x="847344" y="4504945"/>
            <a:ext cx="347472" cy="353568"/>
          </a:xfrm>
          <a:prstGeom prst="roundRect">
            <a:avLst/>
          </a:prstGeom>
          <a:solidFill>
            <a:srgbClr val="2E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18" name="Rectangle: Rounded Corners 17">
            <a:extLst>
              <a:ext uri="{FF2B5EF4-FFF2-40B4-BE49-F238E27FC236}">
                <a16:creationId xmlns:a16="http://schemas.microsoft.com/office/drawing/2014/main" id="{6BA415E9-1518-7BA7-4331-EF469DA59971}"/>
              </a:ext>
            </a:extLst>
          </p:cNvPr>
          <p:cNvSpPr/>
          <p:nvPr/>
        </p:nvSpPr>
        <p:spPr>
          <a:xfrm>
            <a:off x="847344" y="507590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endParaRPr lang="en-IN" dirty="0"/>
          </a:p>
        </p:txBody>
      </p:sp>
      <p:sp>
        <p:nvSpPr>
          <p:cNvPr id="20" name="TextBox 19">
            <a:extLst>
              <a:ext uri="{FF2B5EF4-FFF2-40B4-BE49-F238E27FC236}">
                <a16:creationId xmlns:a16="http://schemas.microsoft.com/office/drawing/2014/main" id="{A4286E49-FB66-4C5F-C35A-AB50D24E12E4}"/>
              </a:ext>
            </a:extLst>
          </p:cNvPr>
          <p:cNvSpPr txBox="1"/>
          <p:nvPr/>
        </p:nvSpPr>
        <p:spPr>
          <a:xfrm>
            <a:off x="1194816" y="1628211"/>
            <a:ext cx="1446230"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Project Overview</a:t>
            </a:r>
            <a:endParaRPr lang="en-IN" sz="1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1D9BF37-B968-AFCF-2BE1-3F742BBDEBA9}"/>
              </a:ext>
            </a:extLst>
          </p:cNvPr>
          <p:cNvSpPr txBox="1"/>
          <p:nvPr/>
        </p:nvSpPr>
        <p:spPr>
          <a:xfrm>
            <a:off x="1194815" y="2228109"/>
            <a:ext cx="1877437"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Dataset &amp; Data Quality</a:t>
            </a:r>
            <a:endParaRPr lang="en-IN" sz="14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74F9F309-2491-C4D2-11E6-443601A3ED13}"/>
              </a:ext>
            </a:extLst>
          </p:cNvPr>
          <p:cNvSpPr txBox="1"/>
          <p:nvPr/>
        </p:nvSpPr>
        <p:spPr>
          <a:xfrm>
            <a:off x="1194814" y="2802211"/>
            <a:ext cx="2090380"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Exploratory Data Analysis</a:t>
            </a:r>
            <a:endParaRPr lang="en-IN" sz="14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DA3AA37E-ABC8-2AE7-75D5-EBBFCBC89637}"/>
              </a:ext>
            </a:extLst>
          </p:cNvPr>
          <p:cNvSpPr txBox="1"/>
          <p:nvPr/>
        </p:nvSpPr>
        <p:spPr>
          <a:xfrm>
            <a:off x="1194813" y="3360910"/>
            <a:ext cx="164500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Feature Engineering</a:t>
            </a:r>
            <a:endParaRPr lang="en-IN" sz="14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F49286AF-6086-595B-D3FA-F3760646DADC}"/>
              </a:ext>
            </a:extLst>
          </p:cNvPr>
          <p:cNvSpPr txBox="1"/>
          <p:nvPr/>
        </p:nvSpPr>
        <p:spPr>
          <a:xfrm>
            <a:off x="1194813" y="3932927"/>
            <a:ext cx="2725170"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Univariate &amp; Multivariate Analysis</a:t>
            </a:r>
            <a:endParaRPr lang="en-IN" sz="14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9B9ABB7C-4919-81AC-932C-86A029420E09}"/>
              </a:ext>
            </a:extLst>
          </p:cNvPr>
          <p:cNvSpPr txBox="1"/>
          <p:nvPr/>
        </p:nvSpPr>
        <p:spPr>
          <a:xfrm>
            <a:off x="1194812" y="4504413"/>
            <a:ext cx="1776448"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Interactive Dashboard</a:t>
            </a:r>
            <a:endParaRPr lang="en-IN" sz="14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8A2CCF37-7E7F-EAFF-A892-738DFA387C1E}"/>
              </a:ext>
            </a:extLst>
          </p:cNvPr>
          <p:cNvSpPr txBox="1"/>
          <p:nvPr/>
        </p:nvSpPr>
        <p:spPr>
          <a:xfrm>
            <a:off x="1194812" y="5098795"/>
            <a:ext cx="1802096"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Insights &amp; Conclusion</a:t>
            </a:r>
            <a:endParaRPr lang="en-IN" sz="1400"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2B17B8CA-D55A-C3C3-EB3F-0FECC9CEF42F}"/>
              </a:ext>
            </a:extLst>
          </p:cNvPr>
          <p:cNvPicPr>
            <a:picLocks noChangeAspect="1"/>
          </p:cNvPicPr>
          <p:nvPr/>
        </p:nvPicPr>
        <p:blipFill>
          <a:blip r:embed="rId2"/>
          <a:stretch>
            <a:fillRect/>
          </a:stretch>
        </p:blipFill>
        <p:spPr>
          <a:xfrm>
            <a:off x="6505368" y="1142973"/>
            <a:ext cx="5009101" cy="393292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8" name="TextBox 37">
            <a:extLst>
              <a:ext uri="{FF2B5EF4-FFF2-40B4-BE49-F238E27FC236}">
                <a16:creationId xmlns:a16="http://schemas.microsoft.com/office/drawing/2014/main" id="{BB070D08-F6BB-D20F-7B23-C8D880F73A05}"/>
              </a:ext>
            </a:extLst>
          </p:cNvPr>
          <p:cNvSpPr txBox="1"/>
          <p:nvPr/>
        </p:nvSpPr>
        <p:spPr>
          <a:xfrm>
            <a:off x="528796" y="393442"/>
            <a:ext cx="3791359"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Presentation Roadmap </a:t>
            </a:r>
            <a:endParaRPr lang="en-IN" sz="2800" b="1" dirty="0">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2CC3E89-26C1-917E-6E58-185E52B680BF}"/>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a:extLst>
              <a:ext uri="{FF2B5EF4-FFF2-40B4-BE49-F238E27FC236}">
                <a16:creationId xmlns:a16="http://schemas.microsoft.com/office/drawing/2014/main" id="{E2F218B8-9A6C-F28C-F239-4C352C07C807}"/>
              </a:ext>
            </a:extLst>
          </p:cNvPr>
          <p:cNvSpPr/>
          <p:nvPr/>
        </p:nvSpPr>
        <p:spPr>
          <a:xfrm>
            <a:off x="0" y="15239"/>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990846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CBA3FC3-24D8-14AE-C4CB-247C6C6AE7D7}"/>
              </a:ext>
            </a:extLst>
          </p:cNvPr>
          <p:cNvSpPr txBox="1"/>
          <p:nvPr/>
        </p:nvSpPr>
        <p:spPr>
          <a:xfrm>
            <a:off x="528796" y="1032641"/>
            <a:ext cx="7087063" cy="5444054"/>
          </a:xfrm>
          <a:prstGeom prst="rect">
            <a:avLst/>
          </a:prstGeom>
          <a:noFill/>
        </p:spPr>
        <p:txBody>
          <a:bodyPr wrap="square">
            <a:spAutoFit/>
          </a:bodyPr>
          <a:lstStyle/>
          <a:p>
            <a:pPr indent="0" algn="l">
              <a:lnSpc>
                <a:spcPct val="150000"/>
              </a:lnSpc>
              <a:buNone/>
            </a:pPr>
            <a:r>
              <a:rPr lang="en-IN" sz="1800" b="0" i="0" dirty="0">
                <a:solidFill>
                  <a:schemeClr val="tx1"/>
                </a:solidFill>
                <a:effectLst/>
                <a:latin typeface="Times New Roman" panose="02020603050405020304" pitchFamily="18" charset="0"/>
                <a:cs typeface="Times New Roman" panose="02020603050405020304" pitchFamily="18" charset="0"/>
              </a:rPr>
              <a:t>Project Objective Analyze flight prices and identify how different factors affect ticket prices, such as:</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Airline</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Source</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Destination</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Number of stops</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Journey date</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Departure time</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Arrival time</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Duration</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Total stops</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Additional information</a:t>
            </a:r>
          </a:p>
          <a:p>
            <a:pPr marL="342900" lvl="0" indent="-342900" algn="l">
              <a:lnSpc>
                <a:spcPct val="150000"/>
              </a:lnSpc>
              <a:buFont typeface="Arial" panose="020B0604020202020204" pitchFamily="34" charset="0"/>
              <a:buChar char="•"/>
            </a:pPr>
            <a:r>
              <a:rPr lang="en-IN" sz="1800" b="0" i="0" dirty="0">
                <a:solidFill>
                  <a:schemeClr val="tx1"/>
                </a:solidFill>
                <a:effectLst/>
                <a:latin typeface="Times New Roman" panose="02020603050405020304" pitchFamily="18" charset="0"/>
                <a:cs typeface="Times New Roman" panose="02020603050405020304" pitchFamily="18" charset="0"/>
              </a:rPr>
              <a:t>Price</a:t>
            </a:r>
            <a:endParaRPr lang="en-IN" sz="1200" b="0" i="0" dirty="0">
              <a:solidFill>
                <a:srgbClr val="E3E3E3"/>
              </a:solidFill>
              <a:effectLst/>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A1E5B4D1-F788-CA70-CC0E-A1BF36A069B9}"/>
              </a:ext>
            </a:extLst>
          </p:cNvPr>
          <p:cNvGraphicFramePr/>
          <p:nvPr>
            <p:extLst>
              <p:ext uri="{D42A27DB-BD31-4B8C-83A1-F6EECF244321}">
                <p14:modId xmlns:p14="http://schemas.microsoft.com/office/powerpoint/2010/main" val="3190813778"/>
              </p:ext>
            </p:extLst>
          </p:nvPr>
        </p:nvGraphicFramePr>
        <p:xfrm>
          <a:off x="6707106" y="916662"/>
          <a:ext cx="5077460" cy="45328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40702C3E-2774-301E-0251-1B4BCFBD7734}"/>
              </a:ext>
            </a:extLst>
          </p:cNvPr>
          <p:cNvSpPr txBox="1"/>
          <p:nvPr/>
        </p:nvSpPr>
        <p:spPr>
          <a:xfrm>
            <a:off x="528796" y="393442"/>
            <a:ext cx="4956100"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Project Overview &amp; Workflow </a:t>
            </a:r>
            <a:endParaRPr lang="en-IN" sz="2800" b="1"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BF2D226-A3AD-F6F9-D0DE-09B1CD543ECD}"/>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CAA2257E-6C5B-3EDA-7642-3DF5B4DC1635}"/>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4238540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33C2C44C-071D-72B1-03A9-842335BDB4FD}"/>
              </a:ext>
            </a:extLst>
          </p:cNvPr>
          <p:cNvSpPr/>
          <p:nvPr/>
        </p:nvSpPr>
        <p:spPr>
          <a:xfrm>
            <a:off x="540371" y="4018235"/>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Rows</a:t>
            </a:r>
          </a:p>
          <a:p>
            <a:pPr algn="ctr"/>
            <a:r>
              <a:rPr lang="en-US" sz="2400" b="1" dirty="0">
                <a:latin typeface="Times New Roman" panose="02020603050405020304" pitchFamily="18" charset="0"/>
                <a:cs typeface="Times New Roman" panose="02020603050405020304" pitchFamily="18" charset="0"/>
              </a:rPr>
              <a:t>10.68 K</a:t>
            </a:r>
            <a:endParaRPr lang="en-IN" sz="2400" b="1" dirty="0">
              <a:latin typeface="Times New Roman" panose="02020603050405020304" pitchFamily="18" charset="0"/>
              <a:cs typeface="Times New Roman" panose="02020603050405020304" pitchFamily="18" charset="0"/>
            </a:endParaRPr>
          </a:p>
        </p:txBody>
      </p:sp>
      <p:sp>
        <p:nvSpPr>
          <p:cNvPr id="25" name="Rectangle: Rounded Corners 24">
            <a:extLst>
              <a:ext uri="{FF2B5EF4-FFF2-40B4-BE49-F238E27FC236}">
                <a16:creationId xmlns:a16="http://schemas.microsoft.com/office/drawing/2014/main" id="{96D75CB5-C7B2-19EB-F428-5F751D8EADDB}"/>
              </a:ext>
            </a:extLst>
          </p:cNvPr>
          <p:cNvSpPr/>
          <p:nvPr/>
        </p:nvSpPr>
        <p:spPr>
          <a:xfrm>
            <a:off x="4104976" y="4578803"/>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Columns</a:t>
            </a:r>
          </a:p>
          <a:p>
            <a:pPr algn="ctr"/>
            <a:r>
              <a:rPr lang="en-US" sz="2400" b="1" dirty="0">
                <a:latin typeface="Times New Roman" panose="02020603050405020304" pitchFamily="18" charset="0"/>
                <a:cs typeface="Times New Roman" panose="02020603050405020304" pitchFamily="18" charset="0"/>
              </a:rPr>
              <a:t>11</a:t>
            </a:r>
            <a:endParaRPr lang="en-IN" sz="2400" b="1" dirty="0">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445230BA-9EE1-1AC1-0768-6167E75E78CE}"/>
              </a:ext>
            </a:extLst>
          </p:cNvPr>
          <p:cNvSpPr/>
          <p:nvPr/>
        </p:nvSpPr>
        <p:spPr>
          <a:xfrm>
            <a:off x="540371" y="5460249"/>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Target</a:t>
            </a:r>
          </a:p>
          <a:p>
            <a:pPr algn="ctr"/>
            <a:r>
              <a:rPr lang="en-US" sz="2400" b="1" dirty="0">
                <a:latin typeface="Times New Roman" panose="02020603050405020304" pitchFamily="18" charset="0"/>
                <a:cs typeface="Times New Roman" panose="02020603050405020304" pitchFamily="18" charset="0"/>
              </a:rPr>
              <a:t>Price</a:t>
            </a:r>
            <a:endParaRPr lang="en-IN" sz="2400" b="1"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5431FB08-F86C-6E5E-CE22-BED9C4335186}"/>
              </a:ext>
            </a:extLst>
          </p:cNvPr>
          <p:cNvPicPr>
            <a:picLocks noChangeAspect="1"/>
          </p:cNvPicPr>
          <p:nvPr/>
        </p:nvPicPr>
        <p:blipFill>
          <a:blip r:embed="rId2"/>
          <a:stretch>
            <a:fillRect/>
          </a:stretch>
        </p:blipFill>
        <p:spPr>
          <a:xfrm>
            <a:off x="677531" y="1533461"/>
            <a:ext cx="10070417" cy="20956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8" name="Picture 37">
            <a:extLst>
              <a:ext uri="{FF2B5EF4-FFF2-40B4-BE49-F238E27FC236}">
                <a16:creationId xmlns:a16="http://schemas.microsoft.com/office/drawing/2014/main" id="{2B9B9575-A9EA-26F9-5B60-E3C341BA7A5C}"/>
              </a:ext>
            </a:extLst>
          </p:cNvPr>
          <p:cNvPicPr>
            <a:picLocks noChangeAspect="1"/>
          </p:cNvPicPr>
          <p:nvPr/>
        </p:nvPicPr>
        <p:blipFill>
          <a:blip r:embed="rId3"/>
          <a:stretch>
            <a:fillRect/>
          </a:stretch>
        </p:blipFill>
        <p:spPr>
          <a:xfrm>
            <a:off x="7316819" y="3896810"/>
            <a:ext cx="3431129" cy="276757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0" name="TextBox 39">
            <a:extLst>
              <a:ext uri="{FF2B5EF4-FFF2-40B4-BE49-F238E27FC236}">
                <a16:creationId xmlns:a16="http://schemas.microsoft.com/office/drawing/2014/main" id="{2439066D-3753-788E-CD8F-6057902BF27D}"/>
              </a:ext>
            </a:extLst>
          </p:cNvPr>
          <p:cNvSpPr txBox="1"/>
          <p:nvPr/>
        </p:nvSpPr>
        <p:spPr>
          <a:xfrm>
            <a:off x="528796" y="393442"/>
            <a:ext cx="2994731"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Dataset Overview </a:t>
            </a:r>
            <a:endParaRPr lang="en-IN" sz="2800" b="1" dirty="0">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D2E4719B-A2E3-ADC2-CCEB-DF65C2EA4694}"/>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92C19EB1-7083-478D-071E-BB267682CFF7}"/>
              </a:ext>
            </a:extLst>
          </p:cNvPr>
          <p:cNvSpPr/>
          <p:nvPr/>
        </p:nvSpPr>
        <p:spPr>
          <a:xfrm>
            <a:off x="0" y="15239"/>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2540653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E8A907A-4362-495D-A5E7-7675F6B88EA2}"/>
              </a:ext>
            </a:extLst>
          </p:cNvPr>
          <p:cNvSpPr/>
          <p:nvPr/>
        </p:nvSpPr>
        <p:spPr>
          <a:xfrm>
            <a:off x="677531" y="1670570"/>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Missing Values</a:t>
            </a:r>
          </a:p>
          <a:p>
            <a:pPr algn="ctr"/>
            <a:r>
              <a:rPr lang="en-US" sz="2400" b="1" dirty="0">
                <a:latin typeface="Times New Roman" panose="02020603050405020304" pitchFamily="18" charset="0"/>
                <a:cs typeface="Times New Roman" panose="02020603050405020304" pitchFamily="18" charset="0"/>
              </a:rPr>
              <a:t>0</a:t>
            </a:r>
            <a:endParaRPr lang="en-IN" sz="2400" b="1"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D373CD88-A865-DD59-7CCE-7E80693EA14A}"/>
              </a:ext>
            </a:extLst>
          </p:cNvPr>
          <p:cNvSpPr/>
          <p:nvPr/>
        </p:nvSpPr>
        <p:spPr>
          <a:xfrm>
            <a:off x="3659258" y="1670569"/>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Duplicate Rows</a:t>
            </a:r>
          </a:p>
          <a:p>
            <a:pPr algn="ctr"/>
            <a:r>
              <a:rPr lang="en-US" sz="2400" b="1" dirty="0">
                <a:latin typeface="Times New Roman" panose="02020603050405020304" pitchFamily="18" charset="0"/>
                <a:cs typeface="Times New Roman" panose="02020603050405020304" pitchFamily="18" charset="0"/>
              </a:rPr>
              <a:t>238</a:t>
            </a:r>
            <a:endParaRPr lang="en-IN" sz="2400" b="1"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3759DCA8-2630-88D6-93FB-6409A6F245FC}"/>
              </a:ext>
            </a:extLst>
          </p:cNvPr>
          <p:cNvSpPr/>
          <p:nvPr/>
        </p:nvSpPr>
        <p:spPr>
          <a:xfrm>
            <a:off x="6640987" y="1670569"/>
            <a:ext cx="2436742" cy="1121137"/>
          </a:xfrm>
          <a:prstGeom prst="roundRect">
            <a:avLst/>
          </a:prstGeom>
          <a:solidFill>
            <a:srgbClr val="DFE7F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Final Rows</a:t>
            </a:r>
          </a:p>
          <a:p>
            <a:pPr algn="ctr"/>
            <a:r>
              <a:rPr lang="en-US" sz="2400" b="1" dirty="0">
                <a:latin typeface="Times New Roman" panose="02020603050405020304" pitchFamily="18" charset="0"/>
                <a:cs typeface="Times New Roman" panose="02020603050405020304" pitchFamily="18" charset="0"/>
              </a:rPr>
              <a:t>10,445</a:t>
            </a:r>
            <a:endParaRPr lang="en-IN"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15DC38D-3126-6B8B-1A7C-5252A0F4A155}"/>
              </a:ext>
            </a:extLst>
          </p:cNvPr>
          <p:cNvPicPr>
            <a:picLocks noChangeAspect="1"/>
          </p:cNvPicPr>
          <p:nvPr/>
        </p:nvPicPr>
        <p:blipFill>
          <a:blip r:embed="rId2"/>
          <a:stretch>
            <a:fillRect/>
          </a:stretch>
        </p:blipFill>
        <p:spPr>
          <a:xfrm>
            <a:off x="9622716" y="1670568"/>
            <a:ext cx="2000323" cy="48724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9" name="TextBox 18">
            <a:extLst>
              <a:ext uri="{FF2B5EF4-FFF2-40B4-BE49-F238E27FC236}">
                <a16:creationId xmlns:a16="http://schemas.microsoft.com/office/drawing/2014/main" id="{291223F5-0A1C-14E1-320B-5DC7762968C8}"/>
              </a:ext>
            </a:extLst>
          </p:cNvPr>
          <p:cNvSpPr txBox="1"/>
          <p:nvPr/>
        </p:nvSpPr>
        <p:spPr>
          <a:xfrm>
            <a:off x="540370" y="3201437"/>
            <a:ext cx="248016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Data Cleaning </a:t>
            </a:r>
            <a:endParaRPr lang="en-IN" sz="28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A8E1C79-4B3F-2F3B-6E2C-DFFDEB53F325}"/>
              </a:ext>
            </a:extLst>
          </p:cNvPr>
          <p:cNvSpPr txBox="1"/>
          <p:nvPr/>
        </p:nvSpPr>
        <p:spPr>
          <a:xfrm>
            <a:off x="540370" y="3853825"/>
            <a:ext cx="3819892" cy="225106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sz="2400" dirty="0"/>
              <a:t>Data Types reviewed</a:t>
            </a:r>
          </a:p>
          <a:p>
            <a:pPr marL="285750" indent="-285750">
              <a:lnSpc>
                <a:spcPct val="150000"/>
              </a:lnSpc>
              <a:buFont typeface="Arial" panose="020B0604020202020204" pitchFamily="34" charset="0"/>
              <a:buChar char="•"/>
            </a:pPr>
            <a:r>
              <a:rPr lang="en-IN" sz="2400" dirty="0"/>
              <a:t>Missing values assessed</a:t>
            </a:r>
          </a:p>
          <a:p>
            <a:pPr marL="285750" indent="-285750">
              <a:lnSpc>
                <a:spcPct val="150000"/>
              </a:lnSpc>
              <a:buFont typeface="Arial" panose="020B0604020202020204" pitchFamily="34" charset="0"/>
              <a:buChar char="•"/>
            </a:pPr>
            <a:r>
              <a:rPr lang="en-IN" sz="2400" dirty="0"/>
              <a:t>Duplicate records assessed</a:t>
            </a:r>
          </a:p>
          <a:p>
            <a:pPr marL="285750" indent="-285750">
              <a:lnSpc>
                <a:spcPct val="150000"/>
              </a:lnSpc>
              <a:buFont typeface="Arial" panose="020B0604020202020204" pitchFamily="34" charset="0"/>
              <a:buChar char="•"/>
            </a:pPr>
            <a:r>
              <a:rPr lang="en-IN" sz="2400" dirty="0"/>
              <a:t>Categorical values checked</a:t>
            </a:r>
          </a:p>
        </p:txBody>
      </p:sp>
      <p:sp>
        <p:nvSpPr>
          <p:cNvPr id="22" name="TextBox 21">
            <a:extLst>
              <a:ext uri="{FF2B5EF4-FFF2-40B4-BE49-F238E27FC236}">
                <a16:creationId xmlns:a16="http://schemas.microsoft.com/office/drawing/2014/main" id="{325CF6C7-6E26-477C-C9DC-0DA7055662C6}"/>
              </a:ext>
            </a:extLst>
          </p:cNvPr>
          <p:cNvSpPr txBox="1"/>
          <p:nvPr/>
        </p:nvSpPr>
        <p:spPr>
          <a:xfrm>
            <a:off x="528796" y="393442"/>
            <a:ext cx="4116833"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Data Quality &amp; Cleaning </a:t>
            </a:r>
            <a:endParaRPr lang="en-IN" sz="2800" b="1" dirty="0">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207CC2DA-5248-1F14-8478-7919AB09D86D}"/>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0C3A95D-ED07-0996-8BC8-DA6641AF9157}"/>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2312097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3F8619-2F4B-62F3-1C4C-864E2AD39745}"/>
              </a:ext>
            </a:extLst>
          </p:cNvPr>
          <p:cNvSpPr txBox="1"/>
          <p:nvPr/>
        </p:nvSpPr>
        <p:spPr>
          <a:xfrm>
            <a:off x="528796" y="393442"/>
            <a:ext cx="4343881"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Exploratory Data Analysis </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2FC1384-BC66-8422-3DA1-E92C6E89B560}"/>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9358B7D-6D00-6514-179C-1D87E31B7F10}"/>
              </a:ext>
            </a:extLst>
          </p:cNvPr>
          <p:cNvPicPr>
            <a:picLocks noChangeAspect="1"/>
          </p:cNvPicPr>
          <p:nvPr/>
        </p:nvPicPr>
        <p:blipFill>
          <a:blip r:embed="rId2"/>
          <a:stretch>
            <a:fillRect/>
          </a:stretch>
        </p:blipFill>
        <p:spPr>
          <a:xfrm>
            <a:off x="677531" y="1291527"/>
            <a:ext cx="4971429" cy="24494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90CCB72E-5731-C734-A51F-D9B56AF653A8}"/>
              </a:ext>
            </a:extLst>
          </p:cNvPr>
          <p:cNvPicPr>
            <a:picLocks noChangeAspect="1"/>
          </p:cNvPicPr>
          <p:nvPr/>
        </p:nvPicPr>
        <p:blipFill>
          <a:blip r:embed="rId3"/>
          <a:stretch>
            <a:fillRect/>
          </a:stretch>
        </p:blipFill>
        <p:spPr>
          <a:xfrm>
            <a:off x="677531" y="4115858"/>
            <a:ext cx="3370318" cy="24494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AC9870AA-FD7D-2D37-52B2-608A96EEFF8D}"/>
              </a:ext>
            </a:extLst>
          </p:cNvPr>
          <p:cNvPicPr>
            <a:picLocks noChangeAspect="1"/>
          </p:cNvPicPr>
          <p:nvPr/>
        </p:nvPicPr>
        <p:blipFill>
          <a:blip r:embed="rId4"/>
          <a:stretch>
            <a:fillRect/>
          </a:stretch>
        </p:blipFill>
        <p:spPr>
          <a:xfrm>
            <a:off x="6471920" y="1233538"/>
            <a:ext cx="5162689" cy="244946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3" name="Picture 12">
            <a:extLst>
              <a:ext uri="{FF2B5EF4-FFF2-40B4-BE49-F238E27FC236}">
                <a16:creationId xmlns:a16="http://schemas.microsoft.com/office/drawing/2014/main" id="{62845F48-90C3-571D-7C02-BA458C667996}"/>
              </a:ext>
            </a:extLst>
          </p:cNvPr>
          <p:cNvPicPr>
            <a:picLocks noChangeAspect="1"/>
          </p:cNvPicPr>
          <p:nvPr/>
        </p:nvPicPr>
        <p:blipFill>
          <a:blip r:embed="rId5"/>
          <a:stretch>
            <a:fillRect/>
          </a:stretch>
        </p:blipFill>
        <p:spPr>
          <a:xfrm>
            <a:off x="4435136" y="4115858"/>
            <a:ext cx="3614937" cy="24494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Picture 14">
            <a:extLst>
              <a:ext uri="{FF2B5EF4-FFF2-40B4-BE49-F238E27FC236}">
                <a16:creationId xmlns:a16="http://schemas.microsoft.com/office/drawing/2014/main" id="{EA2C0AAD-3C46-45CC-35B4-51F8F48D1160}"/>
              </a:ext>
            </a:extLst>
          </p:cNvPr>
          <p:cNvPicPr>
            <a:picLocks noChangeAspect="1"/>
          </p:cNvPicPr>
          <p:nvPr/>
        </p:nvPicPr>
        <p:blipFill>
          <a:blip r:embed="rId6"/>
          <a:stretch>
            <a:fillRect/>
          </a:stretch>
        </p:blipFill>
        <p:spPr>
          <a:xfrm>
            <a:off x="8437360" y="4115857"/>
            <a:ext cx="3197249" cy="24494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7" name="Rectangle 16">
            <a:extLst>
              <a:ext uri="{FF2B5EF4-FFF2-40B4-BE49-F238E27FC236}">
                <a16:creationId xmlns:a16="http://schemas.microsoft.com/office/drawing/2014/main" id="{2142732E-2113-C9B7-F5D5-224BBC09C649}"/>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170320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180A36-10EB-B317-627D-5528EA084A9D}"/>
              </a:ext>
            </a:extLst>
          </p:cNvPr>
          <p:cNvSpPr txBox="1"/>
          <p:nvPr/>
        </p:nvSpPr>
        <p:spPr>
          <a:xfrm>
            <a:off x="528796" y="393442"/>
            <a:ext cx="3427477"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Feature Engineering </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C579E21-C7F1-9F6E-826B-43AEB23AB1FF}"/>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53B523C-0E40-1CE7-2C2F-4E388BFF1E10}"/>
              </a:ext>
            </a:extLst>
          </p:cNvPr>
          <p:cNvSpPr/>
          <p:nvPr/>
        </p:nvSpPr>
        <p:spPr>
          <a:xfrm rot="5400000">
            <a:off x="664690" y="1707250"/>
            <a:ext cx="547004" cy="88278"/>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1D0910CF-4D3E-D603-194B-6A585170F2FB}"/>
              </a:ext>
            </a:extLst>
          </p:cNvPr>
          <p:cNvSpPr/>
          <p:nvPr/>
        </p:nvSpPr>
        <p:spPr>
          <a:xfrm rot="5400000">
            <a:off x="664690" y="2469250"/>
            <a:ext cx="547004" cy="88278"/>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8310D279-628A-27FA-6719-C973B4F9AD41}"/>
              </a:ext>
            </a:extLst>
          </p:cNvPr>
          <p:cNvSpPr/>
          <p:nvPr/>
        </p:nvSpPr>
        <p:spPr>
          <a:xfrm rot="5400000">
            <a:off x="664690" y="3231250"/>
            <a:ext cx="547004" cy="88278"/>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E9350567-17F8-7FFF-D127-E35D9175900F}"/>
              </a:ext>
            </a:extLst>
          </p:cNvPr>
          <p:cNvSpPr/>
          <p:nvPr/>
        </p:nvSpPr>
        <p:spPr>
          <a:xfrm rot="5400000">
            <a:off x="664690" y="3993250"/>
            <a:ext cx="547004" cy="88278"/>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A3C7E13E-33CE-5E97-1E72-FA7435C917BB}"/>
              </a:ext>
            </a:extLst>
          </p:cNvPr>
          <p:cNvSpPr/>
          <p:nvPr/>
        </p:nvSpPr>
        <p:spPr>
          <a:xfrm rot="5400000">
            <a:off x="664690" y="4755250"/>
            <a:ext cx="547004" cy="88278"/>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A2AF407-B0B5-137B-83FF-35D917EC4463}"/>
              </a:ext>
            </a:extLst>
          </p:cNvPr>
          <p:cNvSpPr txBox="1"/>
          <p:nvPr/>
        </p:nvSpPr>
        <p:spPr>
          <a:xfrm>
            <a:off x="1305274" y="1566723"/>
            <a:ext cx="151195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Journey Date</a:t>
            </a:r>
          </a:p>
        </p:txBody>
      </p:sp>
      <p:sp>
        <p:nvSpPr>
          <p:cNvPr id="20" name="TextBox 19">
            <a:extLst>
              <a:ext uri="{FF2B5EF4-FFF2-40B4-BE49-F238E27FC236}">
                <a16:creationId xmlns:a16="http://schemas.microsoft.com/office/drawing/2014/main" id="{91B07CDB-F9CE-326C-485A-FB6F132ED485}"/>
              </a:ext>
            </a:extLst>
          </p:cNvPr>
          <p:cNvSpPr txBox="1"/>
          <p:nvPr/>
        </p:nvSpPr>
        <p:spPr>
          <a:xfrm>
            <a:off x="1305274" y="2328723"/>
            <a:ext cx="1768754"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Departure Time</a:t>
            </a:r>
          </a:p>
        </p:txBody>
      </p:sp>
      <p:sp>
        <p:nvSpPr>
          <p:cNvPr id="22" name="TextBox 21">
            <a:extLst>
              <a:ext uri="{FF2B5EF4-FFF2-40B4-BE49-F238E27FC236}">
                <a16:creationId xmlns:a16="http://schemas.microsoft.com/office/drawing/2014/main" id="{5CBC0511-255F-176C-D23F-5EABFB2C6B36}"/>
              </a:ext>
            </a:extLst>
          </p:cNvPr>
          <p:cNvSpPr txBox="1"/>
          <p:nvPr/>
        </p:nvSpPr>
        <p:spPr>
          <a:xfrm>
            <a:off x="1305274" y="3059275"/>
            <a:ext cx="1477969"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Arrival Time</a:t>
            </a:r>
          </a:p>
        </p:txBody>
      </p:sp>
      <p:sp>
        <p:nvSpPr>
          <p:cNvPr id="24" name="TextBox 23">
            <a:extLst>
              <a:ext uri="{FF2B5EF4-FFF2-40B4-BE49-F238E27FC236}">
                <a16:creationId xmlns:a16="http://schemas.microsoft.com/office/drawing/2014/main" id="{3E2F47D8-BE0D-05DC-B780-D9E5513A07E6}"/>
              </a:ext>
            </a:extLst>
          </p:cNvPr>
          <p:cNvSpPr txBox="1"/>
          <p:nvPr/>
        </p:nvSpPr>
        <p:spPr>
          <a:xfrm>
            <a:off x="1333500" y="3852723"/>
            <a:ext cx="1082348"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Duration</a:t>
            </a:r>
          </a:p>
        </p:txBody>
      </p:sp>
      <p:sp>
        <p:nvSpPr>
          <p:cNvPr id="26" name="TextBox 25">
            <a:extLst>
              <a:ext uri="{FF2B5EF4-FFF2-40B4-BE49-F238E27FC236}">
                <a16:creationId xmlns:a16="http://schemas.microsoft.com/office/drawing/2014/main" id="{C8EF2274-D669-E08C-58B3-ADB385214C2B}"/>
              </a:ext>
            </a:extLst>
          </p:cNvPr>
          <p:cNvSpPr txBox="1"/>
          <p:nvPr/>
        </p:nvSpPr>
        <p:spPr>
          <a:xfrm>
            <a:off x="1333500" y="4614723"/>
            <a:ext cx="1285608"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Total Stops</a:t>
            </a:r>
          </a:p>
        </p:txBody>
      </p:sp>
      <p:sp>
        <p:nvSpPr>
          <p:cNvPr id="28" name="TextBox 27">
            <a:extLst>
              <a:ext uri="{FF2B5EF4-FFF2-40B4-BE49-F238E27FC236}">
                <a16:creationId xmlns:a16="http://schemas.microsoft.com/office/drawing/2014/main" id="{C74A4CC7-D125-7EAD-4B1D-847F761DD728}"/>
              </a:ext>
            </a:extLst>
          </p:cNvPr>
          <p:cNvSpPr txBox="1"/>
          <p:nvPr/>
        </p:nvSpPr>
        <p:spPr>
          <a:xfrm>
            <a:off x="4706620" y="1566723"/>
            <a:ext cx="21209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Day </a:t>
            </a:r>
            <a:r>
              <a:rPr lang="en-IN" b="1" dirty="0">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Month </a:t>
            </a:r>
            <a:r>
              <a:rPr lang="en-IN" b="1" dirty="0">
                <a:latin typeface="Times New Roman" panose="02020603050405020304" pitchFamily="18" charset="0"/>
                <a:cs typeface="Times New Roman" panose="02020603050405020304" pitchFamily="18" charset="0"/>
              </a:rPr>
              <a:t>&gt; </a:t>
            </a:r>
            <a:r>
              <a:rPr lang="en-IN" dirty="0">
                <a:latin typeface="Times New Roman" panose="02020603050405020304" pitchFamily="18" charset="0"/>
                <a:cs typeface="Times New Roman" panose="02020603050405020304" pitchFamily="18" charset="0"/>
              </a:rPr>
              <a:t>Year</a:t>
            </a:r>
          </a:p>
        </p:txBody>
      </p:sp>
      <p:sp>
        <p:nvSpPr>
          <p:cNvPr id="30" name="TextBox 29">
            <a:extLst>
              <a:ext uri="{FF2B5EF4-FFF2-40B4-BE49-F238E27FC236}">
                <a16:creationId xmlns:a16="http://schemas.microsoft.com/office/drawing/2014/main" id="{FAD0870C-168C-F0AC-E06A-CF58FC2BA88B}"/>
              </a:ext>
            </a:extLst>
          </p:cNvPr>
          <p:cNvSpPr txBox="1"/>
          <p:nvPr/>
        </p:nvSpPr>
        <p:spPr>
          <a:xfrm>
            <a:off x="4706620" y="2328723"/>
            <a:ext cx="21209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Hour </a:t>
            </a:r>
            <a:r>
              <a:rPr lang="en-IN" b="1" dirty="0">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Minute</a:t>
            </a:r>
          </a:p>
        </p:txBody>
      </p:sp>
      <p:sp>
        <p:nvSpPr>
          <p:cNvPr id="34" name="TextBox 33">
            <a:extLst>
              <a:ext uri="{FF2B5EF4-FFF2-40B4-BE49-F238E27FC236}">
                <a16:creationId xmlns:a16="http://schemas.microsoft.com/office/drawing/2014/main" id="{97B4D21F-0393-2C1C-1AE1-49A4C71A0B7F}"/>
              </a:ext>
            </a:extLst>
          </p:cNvPr>
          <p:cNvSpPr txBox="1"/>
          <p:nvPr/>
        </p:nvSpPr>
        <p:spPr>
          <a:xfrm>
            <a:off x="4706620" y="3090723"/>
            <a:ext cx="21209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Hour </a:t>
            </a:r>
            <a:r>
              <a:rPr lang="en-IN" b="1" dirty="0">
                <a:latin typeface="Times New Roman" panose="02020603050405020304" pitchFamily="18" charset="0"/>
                <a:cs typeface="Times New Roman" panose="02020603050405020304" pitchFamily="18" charset="0"/>
              </a:rPr>
              <a:t>&gt;</a:t>
            </a:r>
            <a:r>
              <a:rPr lang="en-IN" dirty="0">
                <a:latin typeface="Times New Roman" panose="02020603050405020304" pitchFamily="18" charset="0"/>
                <a:cs typeface="Times New Roman" panose="02020603050405020304" pitchFamily="18" charset="0"/>
              </a:rPr>
              <a:t> Minute</a:t>
            </a:r>
          </a:p>
        </p:txBody>
      </p:sp>
      <p:sp>
        <p:nvSpPr>
          <p:cNvPr id="36" name="TextBox 35">
            <a:extLst>
              <a:ext uri="{FF2B5EF4-FFF2-40B4-BE49-F238E27FC236}">
                <a16:creationId xmlns:a16="http://schemas.microsoft.com/office/drawing/2014/main" id="{0E8360A7-0EDF-7C0B-CCFD-257085DFE8D0}"/>
              </a:ext>
            </a:extLst>
          </p:cNvPr>
          <p:cNvSpPr txBox="1"/>
          <p:nvPr/>
        </p:nvSpPr>
        <p:spPr>
          <a:xfrm>
            <a:off x="4706620" y="3852723"/>
            <a:ext cx="28321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Converted to  minutes</a:t>
            </a:r>
          </a:p>
        </p:txBody>
      </p:sp>
      <p:sp>
        <p:nvSpPr>
          <p:cNvPr id="38" name="TextBox 37">
            <a:extLst>
              <a:ext uri="{FF2B5EF4-FFF2-40B4-BE49-F238E27FC236}">
                <a16:creationId xmlns:a16="http://schemas.microsoft.com/office/drawing/2014/main" id="{D1E0BE10-7B4A-8772-6814-48DCCFC38150}"/>
              </a:ext>
            </a:extLst>
          </p:cNvPr>
          <p:cNvSpPr txBox="1"/>
          <p:nvPr/>
        </p:nvSpPr>
        <p:spPr>
          <a:xfrm>
            <a:off x="4706620" y="4614723"/>
            <a:ext cx="35433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Standardized numeric feature</a:t>
            </a:r>
          </a:p>
        </p:txBody>
      </p:sp>
      <p:pic>
        <p:nvPicPr>
          <p:cNvPr id="40" name="Picture 39">
            <a:extLst>
              <a:ext uri="{FF2B5EF4-FFF2-40B4-BE49-F238E27FC236}">
                <a16:creationId xmlns:a16="http://schemas.microsoft.com/office/drawing/2014/main" id="{836F850D-E14A-E1E2-CFCB-45C82A68D9B3}"/>
              </a:ext>
            </a:extLst>
          </p:cNvPr>
          <p:cNvPicPr>
            <a:picLocks noChangeAspect="1"/>
          </p:cNvPicPr>
          <p:nvPr/>
        </p:nvPicPr>
        <p:blipFill>
          <a:blip r:embed="rId2"/>
          <a:stretch>
            <a:fillRect/>
          </a:stretch>
        </p:blipFill>
        <p:spPr>
          <a:xfrm>
            <a:off x="7849418" y="1380806"/>
            <a:ext cx="3960147" cy="378916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2" name="Rectangle 41">
            <a:extLst>
              <a:ext uri="{FF2B5EF4-FFF2-40B4-BE49-F238E27FC236}">
                <a16:creationId xmlns:a16="http://schemas.microsoft.com/office/drawing/2014/main" id="{A9CE216C-0A9D-103E-116B-9FC5B81DF8F8}"/>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161286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205A2E-52EF-8704-3B4E-0DF57C9280F4}"/>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1C010DD-0CB8-C6D1-C015-03EFFA64AFE8}"/>
              </a:ext>
            </a:extLst>
          </p:cNvPr>
          <p:cNvSpPr txBox="1"/>
          <p:nvPr/>
        </p:nvSpPr>
        <p:spPr>
          <a:xfrm>
            <a:off x="528796" y="393442"/>
            <a:ext cx="5467587"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Bivariate &amp; Multivariate Analysis </a:t>
            </a:r>
            <a:endParaRPr lang="en-IN" sz="2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E008EB3-EE0B-4DE7-49D1-32BF9654FE6D}"/>
              </a:ext>
            </a:extLst>
          </p:cNvPr>
          <p:cNvPicPr>
            <a:picLocks noChangeAspect="1"/>
          </p:cNvPicPr>
          <p:nvPr/>
        </p:nvPicPr>
        <p:blipFill>
          <a:blip r:embed="rId2"/>
          <a:stretch>
            <a:fillRect/>
          </a:stretch>
        </p:blipFill>
        <p:spPr>
          <a:xfrm>
            <a:off x="677531" y="1285756"/>
            <a:ext cx="3826872" cy="244155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29BD29D3-283F-71FD-085D-D96D36D4723A}"/>
              </a:ext>
            </a:extLst>
          </p:cNvPr>
          <p:cNvPicPr>
            <a:picLocks noChangeAspect="1"/>
          </p:cNvPicPr>
          <p:nvPr/>
        </p:nvPicPr>
        <p:blipFill>
          <a:blip r:embed="rId3"/>
          <a:stretch>
            <a:fillRect/>
          </a:stretch>
        </p:blipFill>
        <p:spPr>
          <a:xfrm>
            <a:off x="4880211" y="1271703"/>
            <a:ext cx="3826872" cy="242666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7834E859-C7E5-BDD7-1C50-6B1B07CD0CA9}"/>
              </a:ext>
            </a:extLst>
          </p:cNvPr>
          <p:cNvPicPr>
            <a:picLocks noChangeAspect="1"/>
          </p:cNvPicPr>
          <p:nvPr/>
        </p:nvPicPr>
        <p:blipFill>
          <a:blip r:embed="rId4"/>
          <a:stretch>
            <a:fillRect/>
          </a:stretch>
        </p:blipFill>
        <p:spPr>
          <a:xfrm>
            <a:off x="677530" y="4141291"/>
            <a:ext cx="3826871" cy="242227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3" name="Picture 12">
            <a:extLst>
              <a:ext uri="{FF2B5EF4-FFF2-40B4-BE49-F238E27FC236}">
                <a16:creationId xmlns:a16="http://schemas.microsoft.com/office/drawing/2014/main" id="{76C63F2B-5785-5B7C-DCEA-9BC906C7718D}"/>
              </a:ext>
            </a:extLst>
          </p:cNvPr>
          <p:cNvPicPr>
            <a:picLocks noChangeAspect="1"/>
          </p:cNvPicPr>
          <p:nvPr/>
        </p:nvPicPr>
        <p:blipFill>
          <a:blip r:embed="rId5"/>
          <a:stretch>
            <a:fillRect/>
          </a:stretch>
        </p:blipFill>
        <p:spPr>
          <a:xfrm>
            <a:off x="9082892" y="4053412"/>
            <a:ext cx="2894715" cy="242227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Picture 14">
            <a:extLst>
              <a:ext uri="{FF2B5EF4-FFF2-40B4-BE49-F238E27FC236}">
                <a16:creationId xmlns:a16="http://schemas.microsoft.com/office/drawing/2014/main" id="{D1F64670-4787-060C-5AD7-D1497D48F8AF}"/>
              </a:ext>
            </a:extLst>
          </p:cNvPr>
          <p:cNvPicPr>
            <a:picLocks noChangeAspect="1"/>
          </p:cNvPicPr>
          <p:nvPr/>
        </p:nvPicPr>
        <p:blipFill>
          <a:blip r:embed="rId6"/>
          <a:stretch>
            <a:fillRect/>
          </a:stretch>
        </p:blipFill>
        <p:spPr>
          <a:xfrm>
            <a:off x="4880211" y="4053412"/>
            <a:ext cx="3826871" cy="251015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7" name="Picture 16">
            <a:extLst>
              <a:ext uri="{FF2B5EF4-FFF2-40B4-BE49-F238E27FC236}">
                <a16:creationId xmlns:a16="http://schemas.microsoft.com/office/drawing/2014/main" id="{83810A56-379A-2486-8B72-4C436B6AD49E}"/>
              </a:ext>
            </a:extLst>
          </p:cNvPr>
          <p:cNvPicPr>
            <a:picLocks noChangeAspect="1"/>
          </p:cNvPicPr>
          <p:nvPr/>
        </p:nvPicPr>
        <p:blipFill>
          <a:blip r:embed="rId7"/>
          <a:stretch>
            <a:fillRect/>
          </a:stretch>
        </p:blipFill>
        <p:spPr>
          <a:xfrm>
            <a:off x="9082891" y="1242763"/>
            <a:ext cx="2894714" cy="245560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9" name="Rectangle 18">
            <a:extLst>
              <a:ext uri="{FF2B5EF4-FFF2-40B4-BE49-F238E27FC236}">
                <a16:creationId xmlns:a16="http://schemas.microsoft.com/office/drawing/2014/main" id="{D1F3E59D-A66B-C4AC-30E9-94D49C1FDA65}"/>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293474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918F45-F797-4B6C-2B63-0DB58EECECCA}"/>
              </a:ext>
            </a:extLst>
          </p:cNvPr>
          <p:cNvSpPr txBox="1"/>
          <p:nvPr/>
        </p:nvSpPr>
        <p:spPr>
          <a:xfrm>
            <a:off x="528796" y="393442"/>
            <a:ext cx="3735318"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Interactive Dashboard </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B55A1EA-F2DA-9995-DDE4-0B0B85A4BA93}"/>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A80B6263-520D-8F2C-CFB7-D5FE75534C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4213" y="2592440"/>
            <a:ext cx="3828988" cy="38289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Rectangle 8">
            <a:extLst>
              <a:ext uri="{FF2B5EF4-FFF2-40B4-BE49-F238E27FC236}">
                <a16:creationId xmlns:a16="http://schemas.microsoft.com/office/drawing/2014/main" id="{7F71161E-863E-1E9D-8D04-8E6C8C29DCFB}"/>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
        <p:nvSpPr>
          <p:cNvPr id="11" name="TextBox 10">
            <a:extLst>
              <a:ext uri="{FF2B5EF4-FFF2-40B4-BE49-F238E27FC236}">
                <a16:creationId xmlns:a16="http://schemas.microsoft.com/office/drawing/2014/main" id="{5691F428-2C9B-EB97-DD58-55F552A599F2}"/>
              </a:ext>
            </a:extLst>
          </p:cNvPr>
          <p:cNvSpPr txBox="1"/>
          <p:nvPr/>
        </p:nvSpPr>
        <p:spPr>
          <a:xfrm>
            <a:off x="528796" y="1030337"/>
            <a:ext cx="11663204" cy="5444054"/>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The interactive Python dashboard provides a clear visual analysis of flight prices and travel patterns. It presents key metrics such as total flights, average price. Charts are used to Analyze airline-wise pricing, source and destination routes, total stops, journey months, and flight duration. Interactive filters help users explore the dataset and identify important pricing patterns.</a:t>
            </a:r>
          </a:p>
          <a:p>
            <a:pPr algn="just">
              <a:lnSpc>
                <a:spcPct val="150000"/>
              </a:lnSpc>
              <a:buNone/>
            </a:pPr>
            <a:r>
              <a:rPr lang="en-IN" b="1" dirty="0">
                <a:latin typeface="Times New Roman" panose="02020603050405020304" pitchFamily="18" charset="0"/>
                <a:cs typeface="Times New Roman" panose="02020603050405020304" pitchFamily="18" charset="0"/>
              </a:rPr>
              <a:t>Key Dashboard Visuals:</a:t>
            </a:r>
            <a:endParaRPr lang="en-IN"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Total Flights</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Average Flight Price</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Maximum Flight Price</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Number of Airlines</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Average Price by Airline</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Price vs. Total Stops</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Month-wise Average Price</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Duration vs. Price</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Source &amp; Destination Analysis</a:t>
            </a:r>
          </a:p>
        </p:txBody>
      </p:sp>
    </p:spTree>
    <p:extLst>
      <p:ext uri="{BB962C8B-B14F-4D97-AF65-F5344CB8AC3E}">
        <p14:creationId xmlns:p14="http://schemas.microsoft.com/office/powerpoint/2010/main" val="1455158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01615D-71A3-478C-5CB2-1C5F24AD268A}"/>
              </a:ext>
            </a:extLst>
          </p:cNvPr>
          <p:cNvSpPr txBox="1"/>
          <p:nvPr/>
        </p:nvSpPr>
        <p:spPr>
          <a:xfrm>
            <a:off x="528796" y="393442"/>
            <a:ext cx="4935390"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Key Insights &amp; EDA Summary</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6D05A89-207B-31CF-84FD-9E6AF7FE7370}"/>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1C2C2C89-6022-181C-D08B-8870B30DE62A}"/>
              </a:ext>
            </a:extLst>
          </p:cNvPr>
          <p:cNvSpPr/>
          <p:nvPr/>
        </p:nvSpPr>
        <p:spPr>
          <a:xfrm>
            <a:off x="847344" y="164592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9" name="Rectangle: Rounded Corners 8">
            <a:extLst>
              <a:ext uri="{FF2B5EF4-FFF2-40B4-BE49-F238E27FC236}">
                <a16:creationId xmlns:a16="http://schemas.microsoft.com/office/drawing/2014/main" id="{43D56117-F130-F445-6515-279E6BB737C1}"/>
              </a:ext>
            </a:extLst>
          </p:cNvPr>
          <p:cNvSpPr/>
          <p:nvPr/>
        </p:nvSpPr>
        <p:spPr>
          <a:xfrm>
            <a:off x="847344" y="2789955"/>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sp>
        <p:nvSpPr>
          <p:cNvPr id="11" name="Rectangle: Rounded Corners 10">
            <a:extLst>
              <a:ext uri="{FF2B5EF4-FFF2-40B4-BE49-F238E27FC236}">
                <a16:creationId xmlns:a16="http://schemas.microsoft.com/office/drawing/2014/main" id="{C3896080-1335-3053-EF10-7D064B322695}"/>
              </a:ext>
            </a:extLst>
          </p:cNvPr>
          <p:cNvSpPr/>
          <p:nvPr/>
        </p:nvSpPr>
        <p:spPr>
          <a:xfrm>
            <a:off x="847344" y="2217937"/>
            <a:ext cx="347472" cy="353568"/>
          </a:xfrm>
          <a:prstGeom prst="roundRect">
            <a:avLst/>
          </a:prstGeom>
          <a:solidFill>
            <a:srgbClr val="2E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3" name="Rectangle: Rounded Corners 12">
            <a:extLst>
              <a:ext uri="{FF2B5EF4-FFF2-40B4-BE49-F238E27FC236}">
                <a16:creationId xmlns:a16="http://schemas.microsoft.com/office/drawing/2014/main" id="{3B291DB9-80A7-D6EC-AE9B-ADA9EC654683}"/>
              </a:ext>
            </a:extLst>
          </p:cNvPr>
          <p:cNvSpPr/>
          <p:nvPr/>
        </p:nvSpPr>
        <p:spPr>
          <a:xfrm>
            <a:off x="847344" y="393399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15" name="Rectangle: Rounded Corners 14">
            <a:extLst>
              <a:ext uri="{FF2B5EF4-FFF2-40B4-BE49-F238E27FC236}">
                <a16:creationId xmlns:a16="http://schemas.microsoft.com/office/drawing/2014/main" id="{3F0A9B8E-2A4A-5AAC-4F6F-61B5896251B9}"/>
              </a:ext>
            </a:extLst>
          </p:cNvPr>
          <p:cNvSpPr/>
          <p:nvPr/>
        </p:nvSpPr>
        <p:spPr>
          <a:xfrm>
            <a:off x="847344" y="4504945"/>
            <a:ext cx="347472" cy="353568"/>
          </a:xfrm>
          <a:prstGeom prst="roundRect">
            <a:avLst/>
          </a:prstGeom>
          <a:solidFill>
            <a:srgbClr val="2E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17" name="Rectangle: Rounded Corners 16">
            <a:extLst>
              <a:ext uri="{FF2B5EF4-FFF2-40B4-BE49-F238E27FC236}">
                <a16:creationId xmlns:a16="http://schemas.microsoft.com/office/drawing/2014/main" id="{502FB7ED-2743-CC17-E136-B349EE9B0655}"/>
              </a:ext>
            </a:extLst>
          </p:cNvPr>
          <p:cNvSpPr/>
          <p:nvPr/>
        </p:nvSpPr>
        <p:spPr>
          <a:xfrm>
            <a:off x="847344" y="3360910"/>
            <a:ext cx="347472" cy="35356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18" name="TextBox 17">
            <a:extLst>
              <a:ext uri="{FF2B5EF4-FFF2-40B4-BE49-F238E27FC236}">
                <a16:creationId xmlns:a16="http://schemas.microsoft.com/office/drawing/2014/main" id="{2553D196-BF8D-7DED-7F91-F0AF05AA9B8A}"/>
              </a:ext>
            </a:extLst>
          </p:cNvPr>
          <p:cNvSpPr txBox="1"/>
          <p:nvPr/>
        </p:nvSpPr>
        <p:spPr>
          <a:xfrm>
            <a:off x="1378571" y="1630156"/>
            <a:ext cx="238206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Total Records : </a:t>
            </a:r>
            <a:r>
              <a:rPr lang="en-IN" dirty="0">
                <a:latin typeface="Times New Roman" panose="02020603050405020304" pitchFamily="18" charset="0"/>
                <a:cs typeface="Times New Roman" panose="02020603050405020304" pitchFamily="18" charset="0"/>
              </a:rPr>
              <a:t>10,462</a:t>
            </a:r>
          </a:p>
        </p:txBody>
      </p:sp>
      <p:sp>
        <p:nvSpPr>
          <p:cNvPr id="20" name="TextBox 19">
            <a:extLst>
              <a:ext uri="{FF2B5EF4-FFF2-40B4-BE49-F238E27FC236}">
                <a16:creationId xmlns:a16="http://schemas.microsoft.com/office/drawing/2014/main" id="{C95EDC96-9750-E383-F0CA-D759DB02FB6C}"/>
              </a:ext>
            </a:extLst>
          </p:cNvPr>
          <p:cNvSpPr txBox="1"/>
          <p:nvPr/>
        </p:nvSpPr>
        <p:spPr>
          <a:xfrm>
            <a:off x="1378571" y="2202173"/>
            <a:ext cx="2025234"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Total Features : </a:t>
            </a:r>
            <a:r>
              <a:rPr lang="en-IN" dirty="0">
                <a:latin typeface="Times New Roman" panose="02020603050405020304" pitchFamily="18" charset="0"/>
                <a:cs typeface="Times New Roman" panose="02020603050405020304" pitchFamily="18" charset="0"/>
              </a:rPr>
              <a:t>20</a:t>
            </a:r>
          </a:p>
        </p:txBody>
      </p:sp>
      <p:sp>
        <p:nvSpPr>
          <p:cNvPr id="22" name="TextBox 21">
            <a:extLst>
              <a:ext uri="{FF2B5EF4-FFF2-40B4-BE49-F238E27FC236}">
                <a16:creationId xmlns:a16="http://schemas.microsoft.com/office/drawing/2014/main" id="{3AA057FA-F657-64D0-DE21-ED450A181734}"/>
              </a:ext>
            </a:extLst>
          </p:cNvPr>
          <p:cNvSpPr txBox="1"/>
          <p:nvPr/>
        </p:nvSpPr>
        <p:spPr>
          <a:xfrm>
            <a:off x="1378571" y="2774190"/>
            <a:ext cx="23820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Missing Values : </a:t>
            </a:r>
            <a:r>
              <a:rPr lang="en-IN" dirty="0">
                <a:latin typeface="Times New Roman" panose="02020603050405020304" pitchFamily="18" charset="0"/>
                <a:cs typeface="Times New Roman" panose="02020603050405020304" pitchFamily="18" charset="0"/>
              </a:rPr>
              <a:t>0</a:t>
            </a:r>
          </a:p>
        </p:txBody>
      </p:sp>
      <p:sp>
        <p:nvSpPr>
          <p:cNvPr id="24" name="TextBox 23">
            <a:extLst>
              <a:ext uri="{FF2B5EF4-FFF2-40B4-BE49-F238E27FC236}">
                <a16:creationId xmlns:a16="http://schemas.microsoft.com/office/drawing/2014/main" id="{2CB559BC-984F-8169-546C-2EE9E2E5FA9F}"/>
              </a:ext>
            </a:extLst>
          </p:cNvPr>
          <p:cNvSpPr txBox="1"/>
          <p:nvPr/>
        </p:nvSpPr>
        <p:spPr>
          <a:xfrm>
            <a:off x="1378571" y="3345146"/>
            <a:ext cx="314913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Average Flight Price : </a:t>
            </a:r>
            <a:r>
              <a:rPr lang="en-IN" dirty="0">
                <a:latin typeface="Times New Roman" panose="02020603050405020304" pitchFamily="18" charset="0"/>
                <a:cs typeface="Times New Roman" panose="02020603050405020304" pitchFamily="18" charset="0"/>
              </a:rPr>
              <a:t>9026.79</a:t>
            </a:r>
          </a:p>
        </p:txBody>
      </p:sp>
      <p:sp>
        <p:nvSpPr>
          <p:cNvPr id="26" name="TextBox 25">
            <a:extLst>
              <a:ext uri="{FF2B5EF4-FFF2-40B4-BE49-F238E27FC236}">
                <a16:creationId xmlns:a16="http://schemas.microsoft.com/office/drawing/2014/main" id="{B602E8E3-0DE7-C0AD-6FFE-2E00DFF4A120}"/>
              </a:ext>
            </a:extLst>
          </p:cNvPr>
          <p:cNvSpPr txBox="1"/>
          <p:nvPr/>
        </p:nvSpPr>
        <p:spPr>
          <a:xfrm>
            <a:off x="1378571" y="3916102"/>
            <a:ext cx="3044423"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Minimum Flight Price : </a:t>
            </a:r>
            <a:r>
              <a:rPr lang="en-IN" dirty="0">
                <a:latin typeface="Times New Roman" panose="02020603050405020304" pitchFamily="18" charset="0"/>
                <a:cs typeface="Times New Roman" panose="02020603050405020304" pitchFamily="18" charset="0"/>
              </a:rPr>
              <a:t>1759</a:t>
            </a:r>
          </a:p>
        </p:txBody>
      </p:sp>
      <p:sp>
        <p:nvSpPr>
          <p:cNvPr id="28" name="TextBox 27">
            <a:extLst>
              <a:ext uri="{FF2B5EF4-FFF2-40B4-BE49-F238E27FC236}">
                <a16:creationId xmlns:a16="http://schemas.microsoft.com/office/drawing/2014/main" id="{A60D65CF-6ED8-9A96-505E-D34E66BEBAB2}"/>
              </a:ext>
            </a:extLst>
          </p:cNvPr>
          <p:cNvSpPr txBox="1"/>
          <p:nvPr/>
        </p:nvSpPr>
        <p:spPr>
          <a:xfrm>
            <a:off x="1390164" y="4487058"/>
            <a:ext cx="3198311"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Maximum Flight Price: </a:t>
            </a:r>
            <a:r>
              <a:rPr lang="en-IN" dirty="0">
                <a:latin typeface="Times New Roman" panose="02020603050405020304" pitchFamily="18" charset="0"/>
                <a:cs typeface="Times New Roman" panose="02020603050405020304" pitchFamily="18" charset="0"/>
              </a:rPr>
              <a:t>79,512</a:t>
            </a:r>
          </a:p>
        </p:txBody>
      </p:sp>
      <p:sp>
        <p:nvSpPr>
          <p:cNvPr id="30" name="Rectangle 29">
            <a:extLst>
              <a:ext uri="{FF2B5EF4-FFF2-40B4-BE49-F238E27FC236}">
                <a16:creationId xmlns:a16="http://schemas.microsoft.com/office/drawing/2014/main" id="{0FEB6C64-23E3-2A75-3C65-03720C2F2DB0}"/>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Tree>
    <p:extLst>
      <p:ext uri="{BB962C8B-B14F-4D97-AF65-F5344CB8AC3E}">
        <p14:creationId xmlns:p14="http://schemas.microsoft.com/office/powerpoint/2010/main" val="2660729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A331FC-A770-F248-D929-7E726784C363}"/>
              </a:ext>
            </a:extLst>
          </p:cNvPr>
          <p:cNvSpPr txBox="1"/>
          <p:nvPr/>
        </p:nvSpPr>
        <p:spPr>
          <a:xfrm>
            <a:off x="528796" y="393442"/>
            <a:ext cx="441973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Conclusion &amp; Future Scope</a:t>
            </a:r>
            <a:endParaRPr lang="en-IN" sz="28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CF70141-F4D8-50B7-1EC1-56ACB2AED95F}"/>
              </a:ext>
            </a:extLst>
          </p:cNvPr>
          <p:cNvSpPr/>
          <p:nvPr/>
        </p:nvSpPr>
        <p:spPr>
          <a:xfrm>
            <a:off x="677531" y="1007479"/>
            <a:ext cx="1173480" cy="45719"/>
          </a:xfrm>
          <a:prstGeom prst="rect">
            <a:avLst/>
          </a:prstGeom>
          <a:solidFill>
            <a:srgbClr val="2EB8B8"/>
          </a:solidFill>
          <a:ln>
            <a:solidFill>
              <a:srgbClr val="2E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3B94BFC-F977-8C7C-7E51-0FAC6431E4A0}"/>
              </a:ext>
            </a:extLst>
          </p:cNvPr>
          <p:cNvSpPr txBox="1"/>
          <p:nvPr/>
        </p:nvSpPr>
        <p:spPr>
          <a:xfrm>
            <a:off x="528796" y="3205823"/>
            <a:ext cx="2659702" cy="2258567"/>
          </a:xfrm>
          <a:prstGeom prst="rect">
            <a:avLst/>
          </a:prstGeom>
          <a:noFill/>
        </p:spPr>
        <p:txBody>
          <a:bodyPr wrap="none" rtlCol="0">
            <a:spAutoFit/>
          </a:bodyPr>
          <a:lstStyle/>
          <a:p>
            <a:r>
              <a:rPr lang="en-IN" dirty="0">
                <a:solidFill>
                  <a:srgbClr val="2EB8B8"/>
                </a:solidFill>
                <a:latin typeface="Times New Roman" panose="02020603050405020304" pitchFamily="18" charset="0"/>
                <a:cs typeface="Times New Roman" panose="02020603050405020304" pitchFamily="18" charset="0"/>
              </a:rPr>
              <a:t>Future Scope</a:t>
            </a:r>
          </a:p>
          <a:p>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Flight Price Predicted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comparison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Feature importance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Interactive Deployment</a:t>
            </a:r>
          </a:p>
        </p:txBody>
      </p:sp>
      <p:sp>
        <p:nvSpPr>
          <p:cNvPr id="8" name="Rectangle 7">
            <a:extLst>
              <a:ext uri="{FF2B5EF4-FFF2-40B4-BE49-F238E27FC236}">
                <a16:creationId xmlns:a16="http://schemas.microsoft.com/office/drawing/2014/main" id="{B1BF0F6F-62B8-4E2F-3714-311929C32978}"/>
              </a:ext>
            </a:extLst>
          </p:cNvPr>
          <p:cNvSpPr/>
          <p:nvPr/>
        </p:nvSpPr>
        <p:spPr>
          <a:xfrm>
            <a:off x="0" y="-1"/>
            <a:ext cx="12192000" cy="523219"/>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IN" sz="1100" dirty="0">
                <a:latin typeface="Times New Roman" panose="02020603050405020304" pitchFamily="18" charset="0"/>
                <a:cs typeface="Times New Roman" panose="02020603050405020304" pitchFamily="18" charset="0"/>
              </a:rPr>
              <a:t>FLIGHT PRICE ANALYSIS</a:t>
            </a:r>
          </a:p>
        </p:txBody>
      </p:sp>
      <p:sp>
        <p:nvSpPr>
          <p:cNvPr id="10" name="TextBox 9">
            <a:extLst>
              <a:ext uri="{FF2B5EF4-FFF2-40B4-BE49-F238E27FC236}">
                <a16:creationId xmlns:a16="http://schemas.microsoft.com/office/drawing/2014/main" id="{44F438D6-CABA-CF60-0D8E-6C8262CE6489}"/>
              </a:ext>
            </a:extLst>
          </p:cNvPr>
          <p:cNvSpPr txBox="1"/>
          <p:nvPr/>
        </p:nvSpPr>
        <p:spPr>
          <a:xfrm>
            <a:off x="528796" y="1208958"/>
            <a:ext cx="11663204" cy="1704569"/>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Flight Price Analysis project successfully explored flight pricing patterns using Python-based EDA and feature engineering. The analysis examined airline, journey date, source, destination, stops, duration, and other factors affecting flight prices. Feature engineering transformed raw date and time information into useful analytical features, while visualizations helped identify important relationships and trends in the dataset.</a:t>
            </a:r>
          </a:p>
        </p:txBody>
      </p:sp>
    </p:spTree>
    <p:extLst>
      <p:ext uri="{BB962C8B-B14F-4D97-AF65-F5344CB8AC3E}">
        <p14:creationId xmlns:p14="http://schemas.microsoft.com/office/powerpoint/2010/main" val="2698103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A65E69-3706-3E25-A5CC-0597413BB457}"/>
              </a:ext>
            </a:extLst>
          </p:cNvPr>
          <p:cNvSpPr txBox="1"/>
          <p:nvPr/>
        </p:nvSpPr>
        <p:spPr>
          <a:xfrm>
            <a:off x="0" y="2365993"/>
            <a:ext cx="12192000" cy="1177502"/>
          </a:xfrm>
          <a:prstGeom prst="rect">
            <a:avLst/>
          </a:prstGeom>
          <a:noFill/>
        </p:spPr>
        <p:txBody>
          <a:bodyPr wrap="square" rtlCol="0">
            <a:spAutoFit/>
          </a:bodyPr>
          <a:lstStyle/>
          <a:p>
            <a:pPr algn="ctr"/>
            <a:r>
              <a:rPr lang="en-US" sz="4000" b="1" dirty="0">
                <a:solidFill>
                  <a:srgbClr val="00B0F0"/>
                </a:solidFill>
                <a:latin typeface="Times New Roman" panose="02020603050405020304" pitchFamily="18" charset="0"/>
                <a:cs typeface="Times New Roman" panose="02020603050405020304" pitchFamily="18" charset="0"/>
              </a:rPr>
              <a:t>THANK YOU</a:t>
            </a:r>
          </a:p>
          <a:p>
            <a:pPr algn="ctr">
              <a:lnSpc>
                <a:spcPct val="200000"/>
              </a:lnSpc>
            </a:pPr>
            <a:r>
              <a:rPr lang="en-US" b="1" dirty="0">
                <a:latin typeface="Times New Roman" panose="02020603050405020304" pitchFamily="18" charset="0"/>
                <a:cs typeface="Times New Roman" panose="02020603050405020304" pitchFamily="18" charset="0"/>
              </a:rPr>
              <a:t>Flight Price Analysis &amp; EDA Feature Engineering</a:t>
            </a:r>
            <a:endParaRPr lang="en-IN" b="1"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0E9A6D8-0A36-3098-61C0-6B2770F54E32}"/>
              </a:ext>
            </a:extLst>
          </p:cNvPr>
          <p:cNvCxnSpPr>
            <a:cxnSpLocks/>
          </p:cNvCxnSpPr>
          <p:nvPr/>
        </p:nvCxnSpPr>
        <p:spPr>
          <a:xfrm>
            <a:off x="2818151" y="3882453"/>
            <a:ext cx="6940446"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C4F1B3D-34D6-3B38-705E-2DD1AFE8B403}"/>
              </a:ext>
            </a:extLst>
          </p:cNvPr>
          <p:cNvSpPr txBox="1"/>
          <p:nvPr/>
        </p:nvSpPr>
        <p:spPr>
          <a:xfrm>
            <a:off x="0" y="4221412"/>
            <a:ext cx="12192000"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Obulesu Polisetti</a:t>
            </a:r>
          </a:p>
        </p:txBody>
      </p:sp>
    </p:spTree>
    <p:extLst>
      <p:ext uri="{BB962C8B-B14F-4D97-AF65-F5344CB8AC3E}">
        <p14:creationId xmlns:p14="http://schemas.microsoft.com/office/powerpoint/2010/main" val="2570130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284</TotalTime>
  <Words>422</Words>
  <Application>Microsoft Office PowerPoint</Application>
  <PresentationFormat>Widescreen</PresentationFormat>
  <Paragraphs>116</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Lovely obulesh</dc:creator>
  <cp:lastModifiedBy>Lovely obulesh</cp:lastModifiedBy>
  <cp:revision>1</cp:revision>
  <dcterms:created xsi:type="dcterms:W3CDTF">2026-10-02T08:58:53Z</dcterms:created>
  <dcterms:modified xsi:type="dcterms:W3CDTF">2026-10-02T13:43:33Z</dcterms:modified>
</cp:coreProperties>
</file>